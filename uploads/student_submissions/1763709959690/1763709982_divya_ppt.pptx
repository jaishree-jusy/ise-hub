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70" r:id="rId8"/>
    <p:sldId id="273" r:id="rId9"/>
    <p:sldId id="264" r:id="rId10"/>
    <p:sldId id="274" r:id="rId11"/>
    <p:sldId id="265" r:id="rId12"/>
    <p:sldId id="266" r:id="rId13"/>
    <p:sldId id="271" r:id="rId14"/>
    <p:sldId id="272" r:id="rId15"/>
    <p:sldId id="269" r:id="rId16"/>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65F98E-11EC-4BA8-A5FC-760CFD443ED2}" v="1" dt="2025-11-18T16:33:13.595"/>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85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D4F91152-0361-407A-BBA4-73CA764EC6D6}" type="datetimeFigureOut">
              <a:rPr lang="en-IN" smtClean="0"/>
              <a:t>21-11-2025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5F582205-36D9-4142-AE7B-96500BDA364A}" type="slidenum">
              <a:rPr lang="en-IN" smtClean="0"/>
              <a:t>‹#›</a:t>
            </a:fld>
            <a:endParaRPr lang="en-IN"/>
          </a:p>
        </p:txBody>
      </p:sp>
    </p:spTree>
    <p:extLst>
      <p:ext uri="{BB962C8B-B14F-4D97-AF65-F5344CB8AC3E}">
        <p14:creationId xmlns:p14="http://schemas.microsoft.com/office/powerpoint/2010/main" val="13587228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F582205-36D9-4142-AE7B-96500BDA364A}" type="slidenum">
              <a:rPr lang="en-IN" smtClean="0"/>
              <a:t>3</a:t>
            </a:fld>
            <a:endParaRPr lang="en-IN"/>
          </a:p>
        </p:txBody>
      </p:sp>
    </p:spTree>
    <p:extLst>
      <p:ext uri="{BB962C8B-B14F-4D97-AF65-F5344CB8AC3E}">
        <p14:creationId xmlns:p14="http://schemas.microsoft.com/office/powerpoint/2010/main" val="33877860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352546" y="395173"/>
            <a:ext cx="5879465" cy="635000"/>
          </a:xfrm>
          <a:prstGeom prst="rect">
            <a:avLst/>
          </a:prstGeom>
        </p:spPr>
        <p:txBody>
          <a:bodyPr wrap="square" lIns="0" tIns="0" rIns="0" bIns="0">
            <a:spAutoFit/>
          </a:bodyPr>
          <a:lstStyle>
            <a:lvl1pPr>
              <a:defRPr sz="4000" b="1" i="0">
                <a:solidFill>
                  <a:srgbClr val="1F487C"/>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1F487C"/>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1F487C"/>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11/21/2025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1F487C"/>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11/21/2025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11/21/2025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281934" y="309117"/>
            <a:ext cx="5628131" cy="635000"/>
          </a:xfrm>
          <a:prstGeom prst="rect">
            <a:avLst/>
          </a:prstGeom>
        </p:spPr>
        <p:txBody>
          <a:bodyPr wrap="square" lIns="0" tIns="0" rIns="0" bIns="0">
            <a:spAutoFit/>
          </a:bodyPr>
          <a:lstStyle>
            <a:lvl1pPr>
              <a:defRPr sz="4000" b="1" i="0">
                <a:solidFill>
                  <a:srgbClr val="1F487C"/>
                </a:solidFill>
                <a:latin typeface="Times New Roman"/>
                <a:cs typeface="Times New Roman"/>
              </a:defRPr>
            </a:lvl1pPr>
          </a:lstStyle>
          <a:p>
            <a:endParaRPr/>
          </a:p>
        </p:txBody>
      </p:sp>
      <p:sp>
        <p:nvSpPr>
          <p:cNvPr id="3" name="Holder 3"/>
          <p:cNvSpPr>
            <a:spLocks noGrp="1"/>
          </p:cNvSpPr>
          <p:nvPr>
            <p:ph type="body" idx="1"/>
          </p:nvPr>
        </p:nvSpPr>
        <p:spPr>
          <a:xfrm>
            <a:off x="685291" y="1287246"/>
            <a:ext cx="10582910" cy="3290570"/>
          </a:xfrm>
          <a:prstGeom prst="rect">
            <a:avLst/>
          </a:prstGeom>
        </p:spPr>
        <p:txBody>
          <a:bodyPr wrap="square" lIns="0" tIns="0" rIns="0" bIns="0">
            <a:spAutoFit/>
          </a:bodyPr>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11/21/2025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70026" y="1999945"/>
            <a:ext cx="10252075" cy="2564805"/>
          </a:xfrm>
          <a:prstGeom prst="rect">
            <a:avLst/>
          </a:prstGeom>
        </p:spPr>
        <p:txBody>
          <a:bodyPr vert="horz" wrap="square" lIns="0" tIns="12700" rIns="0" bIns="0" rtlCol="0">
            <a:spAutoFit/>
          </a:bodyPr>
          <a:lstStyle/>
          <a:p>
            <a:pPr marL="1819275">
              <a:lnSpc>
                <a:spcPct val="100000"/>
              </a:lnSpc>
              <a:spcBef>
                <a:spcPts val="100"/>
              </a:spcBef>
            </a:pPr>
            <a:r>
              <a:rPr sz="2400" b="1" dirty="0">
                <a:latin typeface="Times New Roman"/>
                <a:cs typeface="Times New Roman"/>
              </a:rPr>
              <a:t>Department</a:t>
            </a:r>
            <a:r>
              <a:rPr sz="2400" b="1" spc="-100" dirty="0">
                <a:latin typeface="Times New Roman"/>
                <a:cs typeface="Times New Roman"/>
              </a:rPr>
              <a:t> </a:t>
            </a:r>
            <a:r>
              <a:rPr sz="2400" b="1" dirty="0">
                <a:latin typeface="Times New Roman"/>
                <a:cs typeface="Times New Roman"/>
              </a:rPr>
              <a:t>of</a:t>
            </a:r>
            <a:r>
              <a:rPr sz="2400" b="1" spc="-90" dirty="0">
                <a:latin typeface="Times New Roman"/>
                <a:cs typeface="Times New Roman"/>
              </a:rPr>
              <a:t> </a:t>
            </a:r>
            <a:r>
              <a:rPr sz="2400" b="1" dirty="0">
                <a:latin typeface="Times New Roman"/>
                <a:cs typeface="Times New Roman"/>
              </a:rPr>
              <a:t>Information</a:t>
            </a:r>
            <a:r>
              <a:rPr sz="2400" b="1" spc="-110" dirty="0">
                <a:latin typeface="Times New Roman"/>
                <a:cs typeface="Times New Roman"/>
              </a:rPr>
              <a:t> </a:t>
            </a:r>
            <a:r>
              <a:rPr sz="2400" b="1" dirty="0">
                <a:latin typeface="Times New Roman"/>
                <a:cs typeface="Times New Roman"/>
              </a:rPr>
              <a:t>Science</a:t>
            </a:r>
            <a:r>
              <a:rPr sz="2400" b="1" spc="-125" dirty="0">
                <a:latin typeface="Times New Roman"/>
                <a:cs typeface="Times New Roman"/>
              </a:rPr>
              <a:t> </a:t>
            </a:r>
            <a:r>
              <a:rPr sz="2400" b="1" dirty="0">
                <a:latin typeface="Times New Roman"/>
                <a:cs typeface="Times New Roman"/>
              </a:rPr>
              <a:t>and</a:t>
            </a:r>
            <a:r>
              <a:rPr sz="2400" b="1" spc="-85" dirty="0">
                <a:latin typeface="Times New Roman"/>
                <a:cs typeface="Times New Roman"/>
              </a:rPr>
              <a:t> </a:t>
            </a:r>
            <a:r>
              <a:rPr sz="2400" b="1" spc="-10" dirty="0">
                <a:latin typeface="Times New Roman"/>
                <a:cs typeface="Times New Roman"/>
              </a:rPr>
              <a:t>Engineering</a:t>
            </a:r>
            <a:endParaRPr sz="2400" dirty="0">
              <a:latin typeface="Times New Roman"/>
              <a:cs typeface="Times New Roman"/>
            </a:endParaRPr>
          </a:p>
          <a:p>
            <a:pPr marL="2863850" marR="2864485" indent="845819">
              <a:lnSpc>
                <a:spcPts val="2820"/>
              </a:lnSpc>
              <a:spcBef>
                <a:spcPts val="145"/>
              </a:spcBef>
            </a:pPr>
            <a:r>
              <a:rPr sz="2400" b="1" dirty="0">
                <a:latin typeface="Times New Roman"/>
                <a:cs typeface="Times New Roman"/>
              </a:rPr>
              <a:t>Academic</a:t>
            </a:r>
            <a:r>
              <a:rPr sz="2400" b="1" spc="30" dirty="0">
                <a:latin typeface="Times New Roman"/>
                <a:cs typeface="Times New Roman"/>
              </a:rPr>
              <a:t> </a:t>
            </a:r>
            <a:r>
              <a:rPr sz="2400" b="1" dirty="0">
                <a:latin typeface="Times New Roman"/>
                <a:cs typeface="Times New Roman"/>
              </a:rPr>
              <a:t>year:</a:t>
            </a:r>
            <a:r>
              <a:rPr sz="2400" b="1" spc="20" dirty="0">
                <a:latin typeface="Times New Roman"/>
                <a:cs typeface="Times New Roman"/>
              </a:rPr>
              <a:t> </a:t>
            </a:r>
            <a:r>
              <a:rPr sz="2400" b="1" spc="-25" dirty="0">
                <a:latin typeface="Times New Roman"/>
                <a:cs typeface="Times New Roman"/>
              </a:rPr>
              <a:t>2025-26 </a:t>
            </a:r>
            <a:r>
              <a:rPr sz="2400" b="1" dirty="0">
                <a:latin typeface="Times New Roman"/>
                <a:cs typeface="Times New Roman"/>
              </a:rPr>
              <a:t>Mini</a:t>
            </a:r>
            <a:r>
              <a:rPr sz="2400" b="1" spc="-85" dirty="0">
                <a:latin typeface="Times New Roman"/>
                <a:cs typeface="Times New Roman"/>
              </a:rPr>
              <a:t> </a:t>
            </a:r>
            <a:r>
              <a:rPr sz="2400" b="1" dirty="0">
                <a:latin typeface="Times New Roman"/>
                <a:cs typeface="Times New Roman"/>
              </a:rPr>
              <a:t>Project–</a:t>
            </a:r>
            <a:r>
              <a:rPr sz="2400" b="1" spc="-50" dirty="0">
                <a:latin typeface="Times New Roman"/>
                <a:cs typeface="Times New Roman"/>
              </a:rPr>
              <a:t> </a:t>
            </a:r>
            <a:r>
              <a:rPr sz="2400" b="1" dirty="0">
                <a:latin typeface="Times New Roman"/>
                <a:cs typeface="Times New Roman"/>
              </a:rPr>
              <a:t>Review</a:t>
            </a:r>
            <a:r>
              <a:rPr sz="2400" b="1" spc="-35" dirty="0">
                <a:latin typeface="Times New Roman"/>
                <a:cs typeface="Times New Roman"/>
              </a:rPr>
              <a:t> </a:t>
            </a:r>
            <a:r>
              <a:rPr sz="2400" b="1" spc="-10" dirty="0">
                <a:latin typeface="Times New Roman"/>
                <a:cs typeface="Times New Roman"/>
              </a:rPr>
              <a:t>Presentation</a:t>
            </a:r>
            <a:endParaRPr lang="en-US" sz="2400" b="1" spc="-10" dirty="0">
              <a:latin typeface="Times New Roman"/>
              <a:cs typeface="Times New Roman"/>
            </a:endParaRPr>
          </a:p>
          <a:p>
            <a:pPr marL="2863850" marR="2864485" indent="845819" algn="l">
              <a:lnSpc>
                <a:spcPts val="2820"/>
              </a:lnSpc>
              <a:spcBef>
                <a:spcPts val="145"/>
              </a:spcBef>
            </a:pPr>
            <a:r>
              <a:rPr lang="en-US" sz="2400" b="1" spc="-10" dirty="0">
                <a:latin typeface="Times New Roman"/>
                <a:cs typeface="Times New Roman"/>
              </a:rPr>
              <a:t>                on</a:t>
            </a:r>
            <a:endParaRPr lang="en-US" sz="2400" dirty="0">
              <a:latin typeface="Times New Roman"/>
              <a:cs typeface="Times New Roman"/>
            </a:endParaRPr>
          </a:p>
          <a:p>
            <a:pPr algn="ctr">
              <a:lnSpc>
                <a:spcPct val="100000"/>
              </a:lnSpc>
              <a:spcBef>
                <a:spcPts val="1670"/>
              </a:spcBef>
            </a:pPr>
            <a:r>
              <a:rPr sz="2800" b="1" spc="-50" dirty="0">
                <a:latin typeface="Times New Roman"/>
                <a:cs typeface="Times New Roman"/>
              </a:rPr>
              <a:t>“CROP</a:t>
            </a:r>
            <a:r>
              <a:rPr sz="2800" b="1" spc="-140" dirty="0">
                <a:latin typeface="Times New Roman"/>
                <a:cs typeface="Times New Roman"/>
              </a:rPr>
              <a:t> </a:t>
            </a:r>
            <a:r>
              <a:rPr sz="2800" b="1" spc="-60" dirty="0">
                <a:latin typeface="Times New Roman"/>
                <a:cs typeface="Times New Roman"/>
              </a:rPr>
              <a:t>RECOMMENDATION</a:t>
            </a:r>
            <a:r>
              <a:rPr sz="2800" b="1" spc="-125" dirty="0">
                <a:latin typeface="Times New Roman"/>
                <a:cs typeface="Times New Roman"/>
              </a:rPr>
              <a:t> </a:t>
            </a:r>
            <a:r>
              <a:rPr sz="2800" b="1" dirty="0">
                <a:latin typeface="Times New Roman"/>
                <a:cs typeface="Times New Roman"/>
              </a:rPr>
              <a:t>AND</a:t>
            </a:r>
            <a:r>
              <a:rPr sz="2800" b="1" spc="-70" dirty="0">
                <a:latin typeface="Times New Roman"/>
                <a:cs typeface="Times New Roman"/>
              </a:rPr>
              <a:t> </a:t>
            </a:r>
            <a:r>
              <a:rPr sz="2800" b="1" spc="-10" dirty="0">
                <a:latin typeface="Times New Roman"/>
                <a:cs typeface="Times New Roman"/>
              </a:rPr>
              <a:t>FERTILIZER</a:t>
            </a:r>
            <a:r>
              <a:rPr sz="2800" b="1" dirty="0">
                <a:latin typeface="Times New Roman"/>
                <a:cs typeface="Times New Roman"/>
              </a:rPr>
              <a:t> </a:t>
            </a:r>
            <a:r>
              <a:rPr sz="2800" b="1" spc="-10" dirty="0">
                <a:latin typeface="Times New Roman"/>
                <a:cs typeface="Times New Roman"/>
              </a:rPr>
              <a:t>PREDICTION</a:t>
            </a:r>
            <a:endParaRPr sz="2800" dirty="0">
              <a:latin typeface="Times New Roman"/>
              <a:cs typeface="Times New Roman"/>
            </a:endParaRPr>
          </a:p>
          <a:p>
            <a:pPr marL="71755" algn="ctr">
              <a:lnSpc>
                <a:spcPct val="100000"/>
              </a:lnSpc>
            </a:pPr>
            <a:r>
              <a:rPr sz="2800" b="1" spc="-10" dirty="0">
                <a:latin typeface="Times New Roman"/>
                <a:cs typeface="Times New Roman"/>
              </a:rPr>
              <a:t>SYSTEM”</a:t>
            </a:r>
            <a:endParaRPr sz="2800" dirty="0">
              <a:latin typeface="Times New Roman"/>
              <a:cs typeface="Times New Roman"/>
            </a:endParaRPr>
          </a:p>
        </p:txBody>
      </p:sp>
      <p:sp>
        <p:nvSpPr>
          <p:cNvPr id="3" name="object 3"/>
          <p:cNvSpPr txBox="1"/>
          <p:nvPr/>
        </p:nvSpPr>
        <p:spPr>
          <a:xfrm>
            <a:off x="8137017" y="4906111"/>
            <a:ext cx="2122805" cy="1710055"/>
          </a:xfrm>
          <a:prstGeom prst="rect">
            <a:avLst/>
          </a:prstGeom>
        </p:spPr>
        <p:txBody>
          <a:bodyPr vert="horz" wrap="square" lIns="0" tIns="50800" rIns="0" bIns="0" rtlCol="0">
            <a:spAutoFit/>
          </a:bodyPr>
          <a:lstStyle/>
          <a:p>
            <a:pPr marL="12700">
              <a:lnSpc>
                <a:spcPct val="100000"/>
              </a:lnSpc>
              <a:spcBef>
                <a:spcPts val="400"/>
              </a:spcBef>
            </a:pPr>
            <a:r>
              <a:rPr sz="2000" b="1" spc="-10" dirty="0">
                <a:latin typeface="Times New Roman"/>
                <a:cs typeface="Times New Roman"/>
              </a:rPr>
              <a:t>GUIDE:</a:t>
            </a:r>
            <a:endParaRPr sz="2000">
              <a:latin typeface="Times New Roman"/>
              <a:cs typeface="Times New Roman"/>
            </a:endParaRPr>
          </a:p>
          <a:p>
            <a:pPr marL="12700" marR="5080">
              <a:lnSpc>
                <a:spcPct val="109200"/>
              </a:lnSpc>
              <a:spcBef>
                <a:spcPts val="75"/>
              </a:spcBef>
            </a:pPr>
            <a:r>
              <a:rPr sz="2000" b="1" spc="-30" dirty="0">
                <a:latin typeface="Times New Roman"/>
                <a:cs typeface="Times New Roman"/>
              </a:rPr>
              <a:t>Mr.</a:t>
            </a:r>
            <a:r>
              <a:rPr sz="2000" b="1" spc="-95" dirty="0">
                <a:latin typeface="Times New Roman"/>
                <a:cs typeface="Times New Roman"/>
              </a:rPr>
              <a:t> </a:t>
            </a:r>
            <a:r>
              <a:rPr sz="2000" b="1" dirty="0">
                <a:latin typeface="Times New Roman"/>
                <a:cs typeface="Times New Roman"/>
              </a:rPr>
              <a:t>Raghu</a:t>
            </a:r>
            <a:r>
              <a:rPr sz="2000" b="1" spc="-75" dirty="0">
                <a:latin typeface="Times New Roman"/>
                <a:cs typeface="Times New Roman"/>
              </a:rPr>
              <a:t> </a:t>
            </a:r>
            <a:r>
              <a:rPr sz="2000" b="1" dirty="0">
                <a:latin typeface="Times New Roman"/>
                <a:cs typeface="Times New Roman"/>
              </a:rPr>
              <a:t>M</a:t>
            </a:r>
            <a:r>
              <a:rPr sz="2000" b="1" spc="-70" dirty="0">
                <a:latin typeface="Times New Roman"/>
                <a:cs typeface="Times New Roman"/>
              </a:rPr>
              <a:t> </a:t>
            </a:r>
            <a:r>
              <a:rPr sz="2000" b="1" spc="-50" dirty="0">
                <a:latin typeface="Times New Roman"/>
                <a:cs typeface="Times New Roman"/>
              </a:rPr>
              <a:t>T </a:t>
            </a:r>
            <a:r>
              <a:rPr sz="2000" dirty="0">
                <a:latin typeface="Times New Roman"/>
                <a:cs typeface="Times New Roman"/>
              </a:rPr>
              <a:t>Assistant</a:t>
            </a:r>
            <a:r>
              <a:rPr sz="2000" spc="-80" dirty="0">
                <a:latin typeface="Times New Roman"/>
                <a:cs typeface="Times New Roman"/>
              </a:rPr>
              <a:t> </a:t>
            </a:r>
            <a:r>
              <a:rPr sz="2000" spc="-10" dirty="0">
                <a:latin typeface="Times New Roman"/>
                <a:cs typeface="Times New Roman"/>
              </a:rPr>
              <a:t>Professor </a:t>
            </a:r>
            <a:r>
              <a:rPr sz="2000" dirty="0">
                <a:latin typeface="Times New Roman"/>
                <a:cs typeface="Times New Roman"/>
              </a:rPr>
              <a:t>Department</a:t>
            </a:r>
            <a:r>
              <a:rPr sz="2000" spc="-85" dirty="0">
                <a:latin typeface="Times New Roman"/>
                <a:cs typeface="Times New Roman"/>
              </a:rPr>
              <a:t> </a:t>
            </a:r>
            <a:r>
              <a:rPr sz="2000" dirty="0">
                <a:latin typeface="Times New Roman"/>
                <a:cs typeface="Times New Roman"/>
              </a:rPr>
              <a:t>of</a:t>
            </a:r>
            <a:r>
              <a:rPr sz="2000" spc="-60" dirty="0">
                <a:latin typeface="Times New Roman"/>
                <a:cs typeface="Times New Roman"/>
              </a:rPr>
              <a:t> </a:t>
            </a:r>
            <a:r>
              <a:rPr sz="2000" spc="-20" dirty="0">
                <a:latin typeface="Times New Roman"/>
                <a:cs typeface="Times New Roman"/>
              </a:rPr>
              <a:t>IS&amp;E </a:t>
            </a:r>
            <a:r>
              <a:rPr sz="2000" spc="-25" dirty="0">
                <a:latin typeface="Times New Roman"/>
                <a:cs typeface="Times New Roman"/>
              </a:rPr>
              <a:t>DBIT,</a:t>
            </a:r>
            <a:r>
              <a:rPr sz="2000" spc="-90" dirty="0">
                <a:latin typeface="Times New Roman"/>
                <a:cs typeface="Times New Roman"/>
              </a:rPr>
              <a:t> </a:t>
            </a:r>
            <a:r>
              <a:rPr sz="2000" spc="-10" dirty="0">
                <a:latin typeface="Times New Roman"/>
                <a:cs typeface="Times New Roman"/>
              </a:rPr>
              <a:t>Bengaluru</a:t>
            </a:r>
            <a:endParaRPr sz="2000">
              <a:latin typeface="Times New Roman"/>
              <a:cs typeface="Times New Roman"/>
            </a:endParaRPr>
          </a:p>
        </p:txBody>
      </p:sp>
      <p:sp>
        <p:nvSpPr>
          <p:cNvPr id="4" name="object 4"/>
          <p:cNvSpPr txBox="1"/>
          <p:nvPr/>
        </p:nvSpPr>
        <p:spPr>
          <a:xfrm>
            <a:off x="749300" y="4921148"/>
            <a:ext cx="4166235" cy="1319530"/>
          </a:xfrm>
          <a:prstGeom prst="rect">
            <a:avLst/>
          </a:prstGeom>
        </p:spPr>
        <p:txBody>
          <a:bodyPr vert="horz" wrap="square" lIns="0" tIns="68580" rIns="0" bIns="0" rtlCol="0">
            <a:spAutoFit/>
          </a:bodyPr>
          <a:lstStyle/>
          <a:p>
            <a:pPr marL="12700">
              <a:lnSpc>
                <a:spcPct val="100000"/>
              </a:lnSpc>
              <a:spcBef>
                <a:spcPts val="540"/>
              </a:spcBef>
            </a:pPr>
            <a:r>
              <a:rPr sz="2400" b="1" dirty="0">
                <a:latin typeface="Times New Roman"/>
                <a:cs typeface="Times New Roman"/>
              </a:rPr>
              <a:t>Name</a:t>
            </a:r>
            <a:r>
              <a:rPr sz="2400" b="1" spc="-80" dirty="0">
                <a:latin typeface="Times New Roman"/>
                <a:cs typeface="Times New Roman"/>
              </a:rPr>
              <a:t> </a:t>
            </a:r>
            <a:r>
              <a:rPr sz="2400" b="1" dirty="0">
                <a:latin typeface="Times New Roman"/>
                <a:cs typeface="Times New Roman"/>
              </a:rPr>
              <a:t>of</a:t>
            </a:r>
            <a:r>
              <a:rPr sz="2400" b="1" spc="-80" dirty="0">
                <a:latin typeface="Times New Roman"/>
                <a:cs typeface="Times New Roman"/>
              </a:rPr>
              <a:t> </a:t>
            </a:r>
            <a:r>
              <a:rPr sz="2400" b="1" spc="-10" dirty="0">
                <a:latin typeface="Times New Roman"/>
                <a:cs typeface="Times New Roman"/>
              </a:rPr>
              <a:t>Student:</a:t>
            </a:r>
            <a:endParaRPr sz="2400">
              <a:latin typeface="Times New Roman"/>
              <a:cs typeface="Times New Roman"/>
            </a:endParaRPr>
          </a:p>
          <a:p>
            <a:pPr marL="12700" marR="5080">
              <a:lnSpc>
                <a:spcPts val="3540"/>
              </a:lnSpc>
              <a:tabLst>
                <a:tab pos="2367280" algn="l"/>
              </a:tabLst>
            </a:pPr>
            <a:r>
              <a:rPr sz="2400" dirty="0">
                <a:latin typeface="Times New Roman"/>
                <a:cs typeface="Times New Roman"/>
              </a:rPr>
              <a:t>Ashok</a:t>
            </a:r>
            <a:r>
              <a:rPr sz="2400" spc="-80" dirty="0">
                <a:latin typeface="Times New Roman"/>
                <a:cs typeface="Times New Roman"/>
              </a:rPr>
              <a:t> </a:t>
            </a:r>
            <a:r>
              <a:rPr sz="2400" dirty="0">
                <a:latin typeface="Times New Roman"/>
                <a:cs typeface="Times New Roman"/>
              </a:rPr>
              <a:t>Gowda</a:t>
            </a:r>
            <a:r>
              <a:rPr sz="2400" spc="-70" dirty="0">
                <a:latin typeface="Times New Roman"/>
                <a:cs typeface="Times New Roman"/>
              </a:rPr>
              <a:t> </a:t>
            </a:r>
            <a:r>
              <a:rPr sz="2400" dirty="0">
                <a:latin typeface="Times New Roman"/>
                <a:cs typeface="Times New Roman"/>
              </a:rPr>
              <a:t>S</a:t>
            </a:r>
            <a:r>
              <a:rPr sz="2400" spc="-65" dirty="0">
                <a:latin typeface="Times New Roman"/>
                <a:cs typeface="Times New Roman"/>
              </a:rPr>
              <a:t> </a:t>
            </a:r>
            <a:r>
              <a:rPr sz="2400" dirty="0">
                <a:latin typeface="Times New Roman"/>
                <a:cs typeface="Times New Roman"/>
              </a:rPr>
              <a:t>P</a:t>
            </a:r>
            <a:r>
              <a:rPr sz="2400" spc="-150" dirty="0">
                <a:latin typeface="Times New Roman"/>
                <a:cs typeface="Times New Roman"/>
              </a:rPr>
              <a:t> </a:t>
            </a:r>
            <a:r>
              <a:rPr sz="2400" spc="-10" dirty="0">
                <a:latin typeface="Times New Roman"/>
                <a:cs typeface="Times New Roman"/>
              </a:rPr>
              <a:t>(1DB23IS023) </a:t>
            </a:r>
            <a:r>
              <a:rPr sz="2400" dirty="0">
                <a:latin typeface="Times New Roman"/>
                <a:cs typeface="Times New Roman"/>
              </a:rPr>
              <a:t>Divya</a:t>
            </a:r>
            <a:r>
              <a:rPr sz="2400" spc="-25" dirty="0">
                <a:latin typeface="Times New Roman"/>
                <a:cs typeface="Times New Roman"/>
              </a:rPr>
              <a:t> </a:t>
            </a:r>
            <a:r>
              <a:rPr sz="2400" dirty="0">
                <a:latin typeface="Times New Roman"/>
                <a:cs typeface="Times New Roman"/>
              </a:rPr>
              <a:t>H</a:t>
            </a:r>
            <a:r>
              <a:rPr sz="2400" spc="-30" dirty="0">
                <a:latin typeface="Times New Roman"/>
                <a:cs typeface="Times New Roman"/>
              </a:rPr>
              <a:t> </a:t>
            </a:r>
            <a:r>
              <a:rPr sz="2400" spc="-50" dirty="0">
                <a:latin typeface="Times New Roman"/>
                <a:cs typeface="Times New Roman"/>
              </a:rPr>
              <a:t>S</a:t>
            </a:r>
            <a:r>
              <a:rPr sz="2400" dirty="0">
                <a:latin typeface="Times New Roman"/>
                <a:cs typeface="Times New Roman"/>
              </a:rPr>
              <a:t>	</a:t>
            </a:r>
            <a:r>
              <a:rPr sz="2400" spc="-20" dirty="0">
                <a:latin typeface="Times New Roman"/>
                <a:cs typeface="Times New Roman"/>
              </a:rPr>
              <a:t>(1DB23IS050</a:t>
            </a:r>
            <a:r>
              <a:rPr sz="2400" spc="-20" dirty="0">
                <a:latin typeface="Calibri"/>
                <a:cs typeface="Calibri"/>
              </a:rPr>
              <a:t>)</a:t>
            </a:r>
            <a:endParaRPr sz="2400">
              <a:latin typeface="Calibri"/>
              <a:cs typeface="Calibri"/>
            </a:endParaRPr>
          </a:p>
        </p:txBody>
      </p:sp>
      <p:pic>
        <p:nvPicPr>
          <p:cNvPr id="5" name="object 5"/>
          <p:cNvPicPr/>
          <p:nvPr/>
        </p:nvPicPr>
        <p:blipFill>
          <a:blip r:embed="rId2" cstate="print"/>
          <a:stretch>
            <a:fillRect/>
          </a:stretch>
        </p:blipFill>
        <p:spPr>
          <a:xfrm>
            <a:off x="693737" y="63500"/>
            <a:ext cx="10983849" cy="17826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94237" y="152400"/>
            <a:ext cx="2803525" cy="635000"/>
          </a:xfrm>
          <a:prstGeom prst="rect">
            <a:avLst/>
          </a:prstGeom>
        </p:spPr>
        <p:txBody>
          <a:bodyPr vert="horz" wrap="square" lIns="0" tIns="12065" rIns="0" bIns="0" rtlCol="0">
            <a:spAutoFit/>
          </a:bodyPr>
          <a:lstStyle/>
          <a:p>
            <a:pPr marL="12700">
              <a:lnSpc>
                <a:spcPct val="100000"/>
              </a:lnSpc>
              <a:spcBef>
                <a:spcPts val="95"/>
              </a:spcBef>
            </a:pPr>
            <a:r>
              <a:rPr spc="-10" dirty="0"/>
              <a:t>C</a:t>
            </a:r>
            <a:r>
              <a:rPr lang="en-US" spc="-10" dirty="0"/>
              <a:t>ontents</a:t>
            </a:r>
            <a:endParaRPr spc="-10" dirty="0"/>
          </a:p>
        </p:txBody>
      </p:sp>
      <p:sp>
        <p:nvSpPr>
          <p:cNvPr id="3" name="object 3"/>
          <p:cNvSpPr txBox="1"/>
          <p:nvPr/>
        </p:nvSpPr>
        <p:spPr>
          <a:xfrm>
            <a:off x="486562" y="1068070"/>
            <a:ext cx="3522979" cy="4888230"/>
          </a:xfrm>
          <a:prstGeom prst="rect">
            <a:avLst/>
          </a:prstGeom>
        </p:spPr>
        <p:txBody>
          <a:bodyPr vert="horz" wrap="square" lIns="0" tIns="88900" rIns="0" bIns="0" rtlCol="0">
            <a:spAutoFit/>
          </a:bodyPr>
          <a:lstStyle/>
          <a:p>
            <a:pPr marL="354965" indent="-342265">
              <a:lnSpc>
                <a:spcPct val="100000"/>
              </a:lnSpc>
              <a:spcBef>
                <a:spcPts val="700"/>
              </a:spcBef>
              <a:buFont typeface="Wingdings"/>
              <a:buChar char=""/>
              <a:tabLst>
                <a:tab pos="354965" algn="l"/>
              </a:tabLst>
            </a:pPr>
            <a:r>
              <a:rPr sz="2400" spc="-10" dirty="0">
                <a:latin typeface="Times New Roman"/>
                <a:cs typeface="Times New Roman"/>
              </a:rPr>
              <a:t>Introduction</a:t>
            </a:r>
            <a:endParaRPr sz="2400" dirty="0">
              <a:latin typeface="Times New Roman"/>
              <a:cs typeface="Times New Roman"/>
            </a:endParaRPr>
          </a:p>
          <a:p>
            <a:pPr marL="354965" indent="-342265">
              <a:lnSpc>
                <a:spcPct val="100000"/>
              </a:lnSpc>
              <a:spcBef>
                <a:spcPts val="600"/>
              </a:spcBef>
              <a:buFont typeface="Wingdings"/>
              <a:buChar char=""/>
              <a:tabLst>
                <a:tab pos="354965" algn="l"/>
              </a:tabLst>
            </a:pPr>
            <a:r>
              <a:rPr sz="2400" dirty="0">
                <a:latin typeface="Times New Roman"/>
                <a:cs typeface="Times New Roman"/>
              </a:rPr>
              <a:t>Problem</a:t>
            </a:r>
            <a:r>
              <a:rPr sz="2400" spc="-25" dirty="0">
                <a:latin typeface="Times New Roman"/>
                <a:cs typeface="Times New Roman"/>
              </a:rPr>
              <a:t> </a:t>
            </a:r>
            <a:r>
              <a:rPr sz="2400" spc="-10" dirty="0">
                <a:latin typeface="Times New Roman"/>
                <a:cs typeface="Times New Roman"/>
              </a:rPr>
              <a:t>Statement</a:t>
            </a:r>
            <a:endParaRPr sz="2400" dirty="0">
              <a:latin typeface="Times New Roman"/>
              <a:cs typeface="Times New Roman"/>
            </a:endParaRPr>
          </a:p>
          <a:p>
            <a:pPr marL="354965" indent="-342265">
              <a:lnSpc>
                <a:spcPct val="100000"/>
              </a:lnSpc>
              <a:spcBef>
                <a:spcPts val="600"/>
              </a:spcBef>
              <a:buFont typeface="Wingdings"/>
              <a:buChar char=""/>
              <a:tabLst>
                <a:tab pos="354965" algn="l"/>
              </a:tabLst>
            </a:pPr>
            <a:r>
              <a:rPr sz="2400" spc="-10" dirty="0">
                <a:latin typeface="Times New Roman"/>
                <a:cs typeface="Times New Roman"/>
              </a:rPr>
              <a:t>Motivation</a:t>
            </a:r>
            <a:endParaRPr sz="2400" dirty="0">
              <a:latin typeface="Times New Roman"/>
              <a:cs typeface="Times New Roman"/>
            </a:endParaRPr>
          </a:p>
          <a:p>
            <a:pPr marL="354965" indent="-342265">
              <a:lnSpc>
                <a:spcPct val="100000"/>
              </a:lnSpc>
              <a:spcBef>
                <a:spcPts val="600"/>
              </a:spcBef>
              <a:buFont typeface="Wingdings"/>
              <a:buChar char=""/>
              <a:tabLst>
                <a:tab pos="354965" algn="l"/>
              </a:tabLst>
            </a:pPr>
            <a:r>
              <a:rPr sz="2400" dirty="0">
                <a:latin typeface="Times New Roman"/>
                <a:cs typeface="Times New Roman"/>
              </a:rPr>
              <a:t>Aim</a:t>
            </a:r>
            <a:r>
              <a:rPr sz="2400" spc="-50" dirty="0">
                <a:latin typeface="Times New Roman"/>
                <a:cs typeface="Times New Roman"/>
              </a:rPr>
              <a:t> </a:t>
            </a:r>
            <a:r>
              <a:rPr sz="2400" dirty="0">
                <a:latin typeface="Times New Roman"/>
                <a:cs typeface="Times New Roman"/>
              </a:rPr>
              <a:t>&amp;</a:t>
            </a:r>
            <a:r>
              <a:rPr sz="2400" spc="-60" dirty="0">
                <a:latin typeface="Times New Roman"/>
                <a:cs typeface="Times New Roman"/>
              </a:rPr>
              <a:t> </a:t>
            </a:r>
            <a:r>
              <a:rPr sz="2400" spc="-10" dirty="0">
                <a:latin typeface="Times New Roman"/>
                <a:cs typeface="Times New Roman"/>
              </a:rPr>
              <a:t>Objectives</a:t>
            </a:r>
            <a:endParaRPr sz="2400" dirty="0">
              <a:latin typeface="Times New Roman"/>
              <a:cs typeface="Times New Roman"/>
            </a:endParaRPr>
          </a:p>
          <a:p>
            <a:pPr marL="354965" indent="-342265">
              <a:lnSpc>
                <a:spcPct val="100000"/>
              </a:lnSpc>
              <a:spcBef>
                <a:spcPts val="600"/>
              </a:spcBef>
              <a:buFont typeface="Wingdings"/>
              <a:buChar char=""/>
              <a:tabLst>
                <a:tab pos="354965" algn="l"/>
              </a:tabLst>
            </a:pPr>
            <a:r>
              <a:rPr sz="2400" dirty="0">
                <a:latin typeface="Times New Roman"/>
                <a:cs typeface="Times New Roman"/>
              </a:rPr>
              <a:t>System</a:t>
            </a:r>
            <a:r>
              <a:rPr sz="2400" spc="-105" dirty="0">
                <a:latin typeface="Times New Roman"/>
                <a:cs typeface="Times New Roman"/>
              </a:rPr>
              <a:t> </a:t>
            </a:r>
            <a:r>
              <a:rPr sz="2400" spc="-10" dirty="0">
                <a:latin typeface="Times New Roman"/>
                <a:cs typeface="Times New Roman"/>
              </a:rPr>
              <a:t>Design</a:t>
            </a:r>
            <a:endParaRPr sz="2400" dirty="0">
              <a:latin typeface="Times New Roman"/>
              <a:cs typeface="Times New Roman"/>
            </a:endParaRPr>
          </a:p>
          <a:p>
            <a:pPr marL="354965" indent="-342265">
              <a:lnSpc>
                <a:spcPct val="100000"/>
              </a:lnSpc>
              <a:spcBef>
                <a:spcPts val="600"/>
              </a:spcBef>
              <a:buFont typeface="Wingdings"/>
              <a:buChar char=""/>
              <a:tabLst>
                <a:tab pos="354965" algn="l"/>
              </a:tabLst>
            </a:pPr>
            <a:r>
              <a:rPr sz="2400" spc="-10" dirty="0">
                <a:latin typeface="Times New Roman"/>
                <a:cs typeface="Times New Roman"/>
              </a:rPr>
              <a:t>Methodologies</a:t>
            </a:r>
            <a:endParaRPr sz="2400" dirty="0">
              <a:latin typeface="Times New Roman"/>
              <a:cs typeface="Times New Roman"/>
            </a:endParaRPr>
          </a:p>
          <a:p>
            <a:pPr marL="354965" indent="-342265">
              <a:lnSpc>
                <a:spcPct val="100000"/>
              </a:lnSpc>
              <a:spcBef>
                <a:spcPts val="600"/>
              </a:spcBef>
              <a:buFont typeface="Wingdings"/>
              <a:buChar char=""/>
              <a:tabLst>
                <a:tab pos="354965" algn="l"/>
              </a:tabLst>
            </a:pPr>
            <a:r>
              <a:rPr sz="2400" dirty="0">
                <a:latin typeface="Times New Roman"/>
                <a:cs typeface="Times New Roman"/>
              </a:rPr>
              <a:t>Results</a:t>
            </a:r>
            <a:r>
              <a:rPr sz="2400" spc="-85" dirty="0">
                <a:latin typeface="Times New Roman"/>
                <a:cs typeface="Times New Roman"/>
              </a:rPr>
              <a:t> </a:t>
            </a:r>
            <a:r>
              <a:rPr sz="2400" dirty="0">
                <a:latin typeface="Times New Roman"/>
                <a:cs typeface="Times New Roman"/>
              </a:rPr>
              <a:t>and</a:t>
            </a:r>
            <a:r>
              <a:rPr sz="2400" spc="-80" dirty="0">
                <a:latin typeface="Times New Roman"/>
                <a:cs typeface="Times New Roman"/>
              </a:rPr>
              <a:t> </a:t>
            </a:r>
            <a:r>
              <a:rPr sz="2400" spc="-10" dirty="0">
                <a:latin typeface="Times New Roman"/>
                <a:cs typeface="Times New Roman"/>
              </a:rPr>
              <a:t>snapshots</a:t>
            </a:r>
            <a:endParaRPr sz="2400" dirty="0">
              <a:latin typeface="Times New Roman"/>
              <a:cs typeface="Times New Roman"/>
            </a:endParaRPr>
          </a:p>
          <a:p>
            <a:pPr marL="354965" indent="-342265">
              <a:lnSpc>
                <a:spcPct val="100000"/>
              </a:lnSpc>
              <a:spcBef>
                <a:spcPts val="605"/>
              </a:spcBef>
              <a:buFont typeface="Wingdings"/>
              <a:buChar char=""/>
              <a:tabLst>
                <a:tab pos="354965" algn="l"/>
              </a:tabLst>
            </a:pPr>
            <a:r>
              <a:rPr sz="2400" dirty="0">
                <a:latin typeface="Times New Roman"/>
                <a:cs typeface="Times New Roman"/>
              </a:rPr>
              <a:t>Application</a:t>
            </a:r>
            <a:r>
              <a:rPr sz="2400" spc="-45" dirty="0">
                <a:latin typeface="Times New Roman"/>
                <a:cs typeface="Times New Roman"/>
              </a:rPr>
              <a:t> </a:t>
            </a:r>
            <a:r>
              <a:rPr sz="2400" dirty="0">
                <a:latin typeface="Times New Roman"/>
                <a:cs typeface="Times New Roman"/>
              </a:rPr>
              <a:t>of the</a:t>
            </a:r>
            <a:r>
              <a:rPr sz="2400" spc="-15" dirty="0">
                <a:latin typeface="Times New Roman"/>
                <a:cs typeface="Times New Roman"/>
              </a:rPr>
              <a:t> </a:t>
            </a:r>
            <a:r>
              <a:rPr sz="2400" spc="-10" dirty="0">
                <a:latin typeface="Times New Roman"/>
                <a:cs typeface="Times New Roman"/>
              </a:rPr>
              <a:t>Project</a:t>
            </a:r>
            <a:endParaRPr sz="2400" dirty="0">
              <a:latin typeface="Times New Roman"/>
              <a:cs typeface="Times New Roman"/>
            </a:endParaRPr>
          </a:p>
          <a:p>
            <a:pPr marL="354965" indent="-342265">
              <a:lnSpc>
                <a:spcPct val="100000"/>
              </a:lnSpc>
              <a:spcBef>
                <a:spcPts val="600"/>
              </a:spcBef>
              <a:buFont typeface="Wingdings"/>
              <a:buChar char=""/>
              <a:tabLst>
                <a:tab pos="354965" algn="l"/>
              </a:tabLst>
            </a:pPr>
            <a:r>
              <a:rPr sz="2400" spc="-10" dirty="0">
                <a:latin typeface="Times New Roman"/>
                <a:cs typeface="Times New Roman"/>
              </a:rPr>
              <a:t>Conclusion</a:t>
            </a:r>
            <a:endParaRPr sz="2400" dirty="0">
              <a:latin typeface="Times New Roman"/>
              <a:cs typeface="Times New Roman"/>
            </a:endParaRPr>
          </a:p>
          <a:p>
            <a:pPr marL="354965" indent="-342265">
              <a:lnSpc>
                <a:spcPct val="100000"/>
              </a:lnSpc>
              <a:spcBef>
                <a:spcPts val="600"/>
              </a:spcBef>
              <a:buFont typeface="Wingdings"/>
              <a:buChar char=""/>
              <a:tabLst>
                <a:tab pos="354965" algn="l"/>
              </a:tabLst>
            </a:pPr>
            <a:r>
              <a:rPr sz="2400" dirty="0">
                <a:latin typeface="Times New Roman"/>
                <a:cs typeface="Times New Roman"/>
              </a:rPr>
              <a:t>Future</a:t>
            </a:r>
            <a:r>
              <a:rPr sz="2400" spc="-80" dirty="0">
                <a:latin typeface="Times New Roman"/>
                <a:cs typeface="Times New Roman"/>
              </a:rPr>
              <a:t> </a:t>
            </a:r>
            <a:r>
              <a:rPr sz="2400" dirty="0">
                <a:latin typeface="Times New Roman"/>
                <a:cs typeface="Times New Roman"/>
              </a:rPr>
              <a:t>Scope</a:t>
            </a:r>
            <a:r>
              <a:rPr sz="2400" spc="-55" dirty="0">
                <a:latin typeface="Times New Roman"/>
                <a:cs typeface="Times New Roman"/>
              </a:rPr>
              <a:t> </a:t>
            </a:r>
            <a:r>
              <a:rPr sz="2400" dirty="0">
                <a:latin typeface="Times New Roman"/>
                <a:cs typeface="Times New Roman"/>
              </a:rPr>
              <a:t>of</a:t>
            </a:r>
            <a:r>
              <a:rPr sz="2400" spc="-70" dirty="0">
                <a:latin typeface="Times New Roman"/>
                <a:cs typeface="Times New Roman"/>
              </a:rPr>
              <a:t> </a:t>
            </a:r>
            <a:r>
              <a:rPr sz="2400" dirty="0">
                <a:latin typeface="Times New Roman"/>
                <a:cs typeface="Times New Roman"/>
              </a:rPr>
              <a:t>the</a:t>
            </a:r>
            <a:r>
              <a:rPr sz="2400" spc="-80" dirty="0">
                <a:latin typeface="Times New Roman"/>
                <a:cs typeface="Times New Roman"/>
              </a:rPr>
              <a:t> </a:t>
            </a:r>
            <a:r>
              <a:rPr sz="2400" spc="-20" dirty="0">
                <a:latin typeface="Times New Roman"/>
                <a:cs typeface="Times New Roman"/>
              </a:rPr>
              <a:t>paper</a:t>
            </a:r>
            <a:endParaRPr sz="2400" dirty="0">
              <a:latin typeface="Times New Roman"/>
              <a:cs typeface="Times New Roman"/>
            </a:endParaRPr>
          </a:p>
          <a:p>
            <a:pPr marL="354965" indent="-342265">
              <a:lnSpc>
                <a:spcPct val="100000"/>
              </a:lnSpc>
              <a:spcBef>
                <a:spcPts val="600"/>
              </a:spcBef>
              <a:buFont typeface="Wingdings"/>
              <a:buChar char=""/>
              <a:tabLst>
                <a:tab pos="354965" algn="l"/>
              </a:tabLst>
            </a:pPr>
            <a:r>
              <a:rPr sz="2400" spc="-10" dirty="0">
                <a:latin typeface="Times New Roman"/>
                <a:cs typeface="Times New Roman"/>
              </a:rPr>
              <a:t>References</a:t>
            </a:r>
            <a:endParaRPr sz="24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59555" y="246774"/>
            <a:ext cx="4072890" cy="635000"/>
          </a:xfrm>
          <a:prstGeom prst="rect">
            <a:avLst/>
          </a:prstGeom>
        </p:spPr>
        <p:txBody>
          <a:bodyPr vert="horz" wrap="square" lIns="0" tIns="12065" rIns="0" bIns="0" rtlCol="0">
            <a:spAutoFit/>
          </a:bodyPr>
          <a:lstStyle/>
          <a:p>
            <a:pPr marL="12700" algn="ctr">
              <a:lnSpc>
                <a:spcPct val="100000"/>
              </a:lnSpc>
              <a:spcBef>
                <a:spcPts val="95"/>
              </a:spcBef>
            </a:pPr>
            <a:r>
              <a:rPr spc="-10" dirty="0"/>
              <a:t>I</a:t>
            </a:r>
            <a:r>
              <a:rPr lang="en-US" spc="-10" dirty="0"/>
              <a:t>ntroduction</a:t>
            </a:r>
            <a:endParaRPr spc="-10" dirty="0"/>
          </a:p>
        </p:txBody>
      </p:sp>
      <p:sp>
        <p:nvSpPr>
          <p:cNvPr id="4" name="object 3">
            <a:extLst>
              <a:ext uri="{FF2B5EF4-FFF2-40B4-BE49-F238E27FC236}">
                <a16:creationId xmlns:a16="http://schemas.microsoft.com/office/drawing/2014/main" id="{1E906FC5-FD34-3D5E-E52F-83779CCBE6C2}"/>
              </a:ext>
            </a:extLst>
          </p:cNvPr>
          <p:cNvSpPr txBox="1"/>
          <p:nvPr/>
        </p:nvSpPr>
        <p:spPr>
          <a:xfrm>
            <a:off x="533400" y="1066800"/>
            <a:ext cx="10885805" cy="5445530"/>
          </a:xfrm>
          <a:prstGeom prst="rect">
            <a:avLst/>
          </a:prstGeom>
        </p:spPr>
        <p:txBody>
          <a:bodyPr vert="horz" wrap="square" lIns="0" tIns="12065" rIns="0" bIns="0" rtlCol="0">
            <a:spAutoFit/>
          </a:bodyPr>
          <a:lstStyle>
            <a:defPPr>
              <a:defRPr kern="0"/>
            </a:defPPr>
          </a:lstStyle>
          <a:p>
            <a:pPr marL="355600" marR="74930" indent="-342900" algn="just">
              <a:lnSpc>
                <a:spcPct val="150100"/>
              </a:lnSpc>
              <a:spcBef>
                <a:spcPts val="95"/>
              </a:spcBef>
              <a:buFont typeface="Wingdings"/>
              <a:buChar char=""/>
              <a:tabLst>
                <a:tab pos="355600" algn="l"/>
              </a:tabLst>
            </a:pPr>
            <a:r>
              <a:rPr sz="2000" dirty="0">
                <a:latin typeface="Times New Roman"/>
                <a:cs typeface="Times New Roman"/>
              </a:rPr>
              <a:t>The</a:t>
            </a:r>
            <a:r>
              <a:rPr sz="2000" spc="260" dirty="0">
                <a:latin typeface="Times New Roman"/>
                <a:cs typeface="Times New Roman"/>
              </a:rPr>
              <a:t> </a:t>
            </a:r>
            <a:r>
              <a:rPr sz="2000" b="1" dirty="0">
                <a:latin typeface="Times New Roman"/>
                <a:cs typeface="Times New Roman"/>
              </a:rPr>
              <a:t>Crop</a:t>
            </a:r>
            <a:r>
              <a:rPr sz="2000" b="1" spc="275" dirty="0">
                <a:latin typeface="Times New Roman"/>
                <a:cs typeface="Times New Roman"/>
              </a:rPr>
              <a:t> </a:t>
            </a:r>
            <a:r>
              <a:rPr sz="2000" b="1" dirty="0">
                <a:latin typeface="Times New Roman"/>
                <a:cs typeface="Times New Roman"/>
              </a:rPr>
              <a:t>and</a:t>
            </a:r>
            <a:r>
              <a:rPr sz="2000" b="1" spc="260" dirty="0">
                <a:latin typeface="Times New Roman"/>
                <a:cs typeface="Times New Roman"/>
              </a:rPr>
              <a:t> </a:t>
            </a:r>
            <a:r>
              <a:rPr sz="2000" b="1" dirty="0">
                <a:latin typeface="Times New Roman"/>
                <a:cs typeface="Times New Roman"/>
              </a:rPr>
              <a:t>Fertilizer</a:t>
            </a:r>
            <a:r>
              <a:rPr sz="2000" b="1" spc="250" dirty="0">
                <a:latin typeface="Times New Roman"/>
                <a:cs typeface="Times New Roman"/>
              </a:rPr>
              <a:t> </a:t>
            </a:r>
            <a:r>
              <a:rPr sz="2000" b="1" dirty="0">
                <a:latin typeface="Times New Roman"/>
                <a:cs typeface="Times New Roman"/>
              </a:rPr>
              <a:t>Recommendation</a:t>
            </a:r>
            <a:r>
              <a:rPr sz="2000" b="1" spc="260" dirty="0">
                <a:latin typeface="Times New Roman"/>
                <a:cs typeface="Times New Roman"/>
              </a:rPr>
              <a:t> </a:t>
            </a:r>
            <a:r>
              <a:rPr sz="2000" b="1" dirty="0">
                <a:latin typeface="Times New Roman"/>
                <a:cs typeface="Times New Roman"/>
              </a:rPr>
              <a:t>System</a:t>
            </a:r>
            <a:r>
              <a:rPr sz="2000" b="1" spc="220" dirty="0">
                <a:latin typeface="Times New Roman"/>
                <a:cs typeface="Times New Roman"/>
              </a:rPr>
              <a:t> </a:t>
            </a:r>
            <a:r>
              <a:rPr sz="2000" dirty="0">
                <a:latin typeface="Times New Roman"/>
                <a:cs typeface="Times New Roman"/>
              </a:rPr>
              <a:t>is</a:t>
            </a:r>
            <a:r>
              <a:rPr sz="2000" spc="260" dirty="0">
                <a:latin typeface="Times New Roman"/>
                <a:cs typeface="Times New Roman"/>
              </a:rPr>
              <a:t> </a:t>
            </a:r>
            <a:r>
              <a:rPr sz="2000" dirty="0">
                <a:latin typeface="Times New Roman"/>
                <a:cs typeface="Times New Roman"/>
              </a:rPr>
              <a:t>a</a:t>
            </a:r>
            <a:r>
              <a:rPr sz="2000" spc="270" dirty="0">
                <a:latin typeface="Times New Roman"/>
                <a:cs typeface="Times New Roman"/>
              </a:rPr>
              <a:t> </a:t>
            </a:r>
            <a:r>
              <a:rPr sz="2000" dirty="0">
                <a:latin typeface="Times New Roman"/>
                <a:cs typeface="Times New Roman"/>
              </a:rPr>
              <a:t>machine</a:t>
            </a:r>
            <a:r>
              <a:rPr sz="2000" spc="275" dirty="0">
                <a:latin typeface="Times New Roman"/>
                <a:cs typeface="Times New Roman"/>
              </a:rPr>
              <a:t> </a:t>
            </a:r>
            <a:r>
              <a:rPr sz="2000" spc="-20" dirty="0">
                <a:latin typeface="Times New Roman"/>
                <a:cs typeface="Times New Roman"/>
              </a:rPr>
              <a:t>learning-</a:t>
            </a:r>
            <a:r>
              <a:rPr sz="2000" dirty="0">
                <a:latin typeface="Times New Roman"/>
                <a:cs typeface="Times New Roman"/>
              </a:rPr>
              <a:t>based</a:t>
            </a:r>
            <a:r>
              <a:rPr sz="2000" spc="229" dirty="0">
                <a:latin typeface="Times New Roman"/>
                <a:cs typeface="Times New Roman"/>
              </a:rPr>
              <a:t> </a:t>
            </a:r>
            <a:r>
              <a:rPr sz="2000" dirty="0">
                <a:latin typeface="Times New Roman"/>
                <a:cs typeface="Times New Roman"/>
              </a:rPr>
              <a:t>solution</a:t>
            </a:r>
            <a:r>
              <a:rPr sz="2000" spc="240" dirty="0">
                <a:latin typeface="Times New Roman"/>
                <a:cs typeface="Times New Roman"/>
              </a:rPr>
              <a:t> </a:t>
            </a:r>
            <a:r>
              <a:rPr sz="2000" dirty="0">
                <a:latin typeface="Times New Roman"/>
                <a:cs typeface="Times New Roman"/>
              </a:rPr>
              <a:t>designed</a:t>
            </a:r>
            <a:r>
              <a:rPr sz="2000" spc="254" dirty="0">
                <a:latin typeface="Times New Roman"/>
                <a:cs typeface="Times New Roman"/>
              </a:rPr>
              <a:t> </a:t>
            </a:r>
            <a:r>
              <a:rPr sz="2000" spc="-25" dirty="0">
                <a:latin typeface="Times New Roman"/>
                <a:cs typeface="Times New Roman"/>
              </a:rPr>
              <a:t>to </a:t>
            </a:r>
            <a:r>
              <a:rPr sz="2000" dirty="0">
                <a:latin typeface="Times New Roman"/>
                <a:cs typeface="Times New Roman"/>
              </a:rPr>
              <a:t>assist</a:t>
            </a:r>
            <a:r>
              <a:rPr sz="2000" spc="-105" dirty="0">
                <a:latin typeface="Times New Roman"/>
                <a:cs typeface="Times New Roman"/>
              </a:rPr>
              <a:t> </a:t>
            </a:r>
            <a:r>
              <a:rPr sz="2000" dirty="0">
                <a:latin typeface="Times New Roman"/>
                <a:cs typeface="Times New Roman"/>
              </a:rPr>
              <a:t>farmers</a:t>
            </a:r>
            <a:r>
              <a:rPr sz="2000" spc="-65" dirty="0">
                <a:latin typeface="Times New Roman"/>
                <a:cs typeface="Times New Roman"/>
              </a:rPr>
              <a:t> </a:t>
            </a:r>
            <a:r>
              <a:rPr sz="2000" dirty="0">
                <a:latin typeface="Times New Roman"/>
                <a:cs typeface="Times New Roman"/>
              </a:rPr>
              <a:t>in</a:t>
            </a:r>
            <a:r>
              <a:rPr sz="2000" spc="-25" dirty="0">
                <a:latin typeface="Times New Roman"/>
                <a:cs typeface="Times New Roman"/>
              </a:rPr>
              <a:t> </a:t>
            </a:r>
            <a:r>
              <a:rPr sz="2000" dirty="0">
                <a:latin typeface="Times New Roman"/>
                <a:cs typeface="Times New Roman"/>
              </a:rPr>
              <a:t>making</a:t>
            </a:r>
            <a:r>
              <a:rPr sz="2000" spc="-30" dirty="0">
                <a:latin typeface="Times New Roman"/>
                <a:cs typeface="Times New Roman"/>
              </a:rPr>
              <a:t> </a:t>
            </a:r>
            <a:r>
              <a:rPr sz="2000" dirty="0">
                <a:latin typeface="Times New Roman"/>
                <a:cs typeface="Times New Roman"/>
              </a:rPr>
              <a:t>informed</a:t>
            </a:r>
            <a:r>
              <a:rPr sz="2000" spc="-70" dirty="0">
                <a:latin typeface="Times New Roman"/>
                <a:cs typeface="Times New Roman"/>
              </a:rPr>
              <a:t> </a:t>
            </a:r>
            <a:r>
              <a:rPr sz="2000" dirty="0">
                <a:latin typeface="Times New Roman"/>
                <a:cs typeface="Times New Roman"/>
              </a:rPr>
              <a:t>agricultural</a:t>
            </a:r>
            <a:r>
              <a:rPr sz="2000" spc="-100" dirty="0">
                <a:latin typeface="Times New Roman"/>
                <a:cs typeface="Times New Roman"/>
              </a:rPr>
              <a:t> </a:t>
            </a:r>
            <a:r>
              <a:rPr sz="2000" dirty="0">
                <a:latin typeface="Times New Roman"/>
                <a:cs typeface="Times New Roman"/>
              </a:rPr>
              <a:t>decisions</a:t>
            </a:r>
            <a:r>
              <a:rPr lang="en-US" sz="2000" dirty="0">
                <a:latin typeface="Times New Roman"/>
                <a:cs typeface="Times New Roman"/>
              </a:rPr>
              <a:t>.</a:t>
            </a:r>
            <a:r>
              <a:rPr lang="en-US" sz="2000" spc="-105" dirty="0">
                <a:latin typeface="Times New Roman"/>
                <a:cs typeface="Times New Roman"/>
              </a:rPr>
              <a:t> It </a:t>
            </a:r>
            <a:r>
              <a:rPr sz="2000" spc="-10" dirty="0">
                <a:latin typeface="Times New Roman"/>
                <a:cs typeface="Times New Roman"/>
              </a:rPr>
              <a:t>recommend</a:t>
            </a:r>
            <a:r>
              <a:rPr lang="en-US" sz="2000" spc="-10" dirty="0">
                <a:latin typeface="Times New Roman"/>
                <a:cs typeface="Times New Roman"/>
              </a:rPr>
              <a:t>s</a:t>
            </a:r>
            <a:r>
              <a:rPr sz="2000" spc="-10" dirty="0">
                <a:latin typeface="Times New Roman"/>
                <a:cs typeface="Times New Roman"/>
              </a:rPr>
              <a:t>:</a:t>
            </a:r>
            <a:endParaRPr sz="2000" dirty="0">
              <a:latin typeface="Times New Roman"/>
              <a:cs typeface="Times New Roman"/>
            </a:endParaRPr>
          </a:p>
          <a:p>
            <a:pPr marL="812165" lvl="1" indent="-342265">
              <a:lnSpc>
                <a:spcPct val="100000"/>
              </a:lnSpc>
              <a:spcBef>
                <a:spcPts val="1200"/>
              </a:spcBef>
              <a:buFont typeface="Wingdings"/>
              <a:buChar char=""/>
              <a:tabLst>
                <a:tab pos="812165" algn="l"/>
              </a:tabLst>
            </a:pPr>
            <a:r>
              <a:rPr sz="2000" b="1" dirty="0">
                <a:latin typeface="Times New Roman"/>
                <a:cs typeface="Times New Roman"/>
              </a:rPr>
              <a:t>Suitable</a:t>
            </a:r>
            <a:r>
              <a:rPr sz="2000" b="1" spc="-60" dirty="0">
                <a:latin typeface="Times New Roman"/>
                <a:cs typeface="Times New Roman"/>
              </a:rPr>
              <a:t> </a:t>
            </a:r>
            <a:r>
              <a:rPr sz="2000" b="1" dirty="0">
                <a:latin typeface="Times New Roman"/>
                <a:cs typeface="Times New Roman"/>
              </a:rPr>
              <a:t>crops</a:t>
            </a:r>
            <a:r>
              <a:rPr lang="en-US" sz="2000" b="1" spc="-35" dirty="0">
                <a:latin typeface="Times New Roman"/>
                <a:cs typeface="Times New Roman"/>
              </a:rPr>
              <a:t> </a:t>
            </a:r>
            <a:r>
              <a:rPr lang="en-US" sz="2000" spc="-35" dirty="0">
                <a:latin typeface="Times New Roman"/>
                <a:cs typeface="Times New Roman"/>
              </a:rPr>
              <a:t>and </a:t>
            </a:r>
            <a:endParaRPr sz="2000" dirty="0">
              <a:latin typeface="Times New Roman"/>
              <a:cs typeface="Times New Roman"/>
            </a:endParaRPr>
          </a:p>
          <a:p>
            <a:pPr marL="812165" lvl="1" indent="-342265">
              <a:lnSpc>
                <a:spcPct val="100000"/>
              </a:lnSpc>
              <a:spcBef>
                <a:spcPts val="1200"/>
              </a:spcBef>
              <a:buFont typeface="Wingdings"/>
              <a:buChar char=""/>
              <a:tabLst>
                <a:tab pos="812165" algn="l"/>
              </a:tabLst>
            </a:pPr>
            <a:r>
              <a:rPr sz="2000" dirty="0">
                <a:latin typeface="Times New Roman"/>
                <a:cs typeface="Times New Roman"/>
              </a:rPr>
              <a:t>Appropriate</a:t>
            </a:r>
            <a:r>
              <a:rPr sz="2000" spc="-90" dirty="0">
                <a:latin typeface="Times New Roman"/>
                <a:cs typeface="Times New Roman"/>
              </a:rPr>
              <a:t> </a:t>
            </a:r>
            <a:r>
              <a:rPr sz="2000" dirty="0">
                <a:latin typeface="Times New Roman"/>
                <a:cs typeface="Times New Roman"/>
              </a:rPr>
              <a:t>fertilizers</a:t>
            </a:r>
          </a:p>
          <a:p>
            <a:pPr marL="329565">
              <a:lnSpc>
                <a:spcPct val="100000"/>
              </a:lnSpc>
              <a:spcBef>
                <a:spcPts val="770"/>
              </a:spcBef>
            </a:pPr>
            <a:r>
              <a:rPr lang="en-US" sz="2000" dirty="0">
                <a:latin typeface="Times New Roman"/>
                <a:cs typeface="Times New Roman"/>
              </a:rPr>
              <a:t>b</a:t>
            </a:r>
            <a:r>
              <a:rPr sz="2000" dirty="0">
                <a:latin typeface="Times New Roman"/>
                <a:cs typeface="Times New Roman"/>
              </a:rPr>
              <a:t>y</a:t>
            </a:r>
            <a:r>
              <a:rPr sz="2000" spc="-25" dirty="0">
                <a:latin typeface="Times New Roman"/>
                <a:cs typeface="Times New Roman"/>
              </a:rPr>
              <a:t> </a:t>
            </a:r>
            <a:r>
              <a:rPr sz="2000" dirty="0">
                <a:latin typeface="Times New Roman"/>
                <a:cs typeface="Times New Roman"/>
              </a:rPr>
              <a:t>analyzing</a:t>
            </a:r>
            <a:r>
              <a:rPr sz="2000" spc="-10" dirty="0">
                <a:latin typeface="Times New Roman"/>
                <a:cs typeface="Times New Roman"/>
              </a:rPr>
              <a:t> </a:t>
            </a:r>
            <a:r>
              <a:rPr sz="2000" dirty="0">
                <a:latin typeface="Times New Roman"/>
                <a:cs typeface="Times New Roman"/>
              </a:rPr>
              <a:t>soil</a:t>
            </a:r>
            <a:r>
              <a:rPr sz="2000" spc="-25" dirty="0">
                <a:latin typeface="Times New Roman"/>
                <a:cs typeface="Times New Roman"/>
              </a:rPr>
              <a:t> </a:t>
            </a:r>
            <a:r>
              <a:rPr sz="2000" dirty="0">
                <a:latin typeface="Times New Roman"/>
                <a:cs typeface="Times New Roman"/>
              </a:rPr>
              <a:t>and</a:t>
            </a:r>
            <a:r>
              <a:rPr sz="2000" spc="-15" dirty="0">
                <a:latin typeface="Times New Roman"/>
                <a:cs typeface="Times New Roman"/>
              </a:rPr>
              <a:t> </a:t>
            </a:r>
            <a:r>
              <a:rPr sz="2000" dirty="0">
                <a:latin typeface="Times New Roman"/>
                <a:cs typeface="Times New Roman"/>
              </a:rPr>
              <a:t>environmental</a:t>
            </a:r>
            <a:r>
              <a:rPr sz="2000" spc="-25" dirty="0">
                <a:latin typeface="Times New Roman"/>
                <a:cs typeface="Times New Roman"/>
              </a:rPr>
              <a:t> </a:t>
            </a:r>
            <a:r>
              <a:rPr sz="2000" dirty="0">
                <a:latin typeface="Times New Roman"/>
                <a:cs typeface="Times New Roman"/>
              </a:rPr>
              <a:t>parameters</a:t>
            </a:r>
            <a:r>
              <a:rPr sz="2000" spc="-25" dirty="0">
                <a:latin typeface="Times New Roman"/>
                <a:cs typeface="Times New Roman"/>
              </a:rPr>
              <a:t> </a:t>
            </a:r>
            <a:r>
              <a:rPr sz="2000" dirty="0">
                <a:latin typeface="Times New Roman"/>
                <a:cs typeface="Times New Roman"/>
              </a:rPr>
              <a:t>such</a:t>
            </a:r>
            <a:r>
              <a:rPr sz="2000" spc="-15" dirty="0">
                <a:latin typeface="Times New Roman"/>
                <a:cs typeface="Times New Roman"/>
              </a:rPr>
              <a:t> </a:t>
            </a:r>
            <a:r>
              <a:rPr sz="2000" dirty="0">
                <a:latin typeface="Times New Roman"/>
                <a:cs typeface="Times New Roman"/>
              </a:rPr>
              <a:t>as</a:t>
            </a:r>
            <a:r>
              <a:rPr sz="2000" spc="-15" dirty="0">
                <a:latin typeface="Times New Roman"/>
                <a:cs typeface="Times New Roman"/>
              </a:rPr>
              <a:t> </a:t>
            </a:r>
            <a:r>
              <a:rPr sz="2000" dirty="0">
                <a:latin typeface="Times New Roman"/>
                <a:cs typeface="Times New Roman"/>
              </a:rPr>
              <a:t>Nitrogen</a:t>
            </a:r>
            <a:r>
              <a:rPr sz="2000" spc="-20" dirty="0">
                <a:latin typeface="Times New Roman"/>
                <a:cs typeface="Times New Roman"/>
              </a:rPr>
              <a:t> </a:t>
            </a:r>
            <a:r>
              <a:rPr sz="2000" dirty="0">
                <a:latin typeface="Times New Roman"/>
                <a:cs typeface="Times New Roman"/>
              </a:rPr>
              <a:t>(N),</a:t>
            </a:r>
            <a:r>
              <a:rPr sz="2000" spc="-20" dirty="0">
                <a:latin typeface="Times New Roman"/>
                <a:cs typeface="Times New Roman"/>
              </a:rPr>
              <a:t> </a:t>
            </a:r>
            <a:r>
              <a:rPr sz="2000" dirty="0">
                <a:latin typeface="Times New Roman"/>
                <a:cs typeface="Times New Roman"/>
              </a:rPr>
              <a:t>Phosphorus</a:t>
            </a:r>
            <a:r>
              <a:rPr sz="2000" spc="-25" dirty="0">
                <a:latin typeface="Times New Roman"/>
                <a:cs typeface="Times New Roman"/>
              </a:rPr>
              <a:t> </a:t>
            </a:r>
            <a:r>
              <a:rPr sz="2000" dirty="0">
                <a:latin typeface="Times New Roman"/>
                <a:cs typeface="Times New Roman"/>
              </a:rPr>
              <a:t>(P),</a:t>
            </a:r>
            <a:r>
              <a:rPr sz="2000" spc="-30" dirty="0">
                <a:latin typeface="Times New Roman"/>
                <a:cs typeface="Times New Roman"/>
              </a:rPr>
              <a:t> </a:t>
            </a:r>
            <a:r>
              <a:rPr sz="2000" dirty="0">
                <a:latin typeface="Times New Roman"/>
                <a:cs typeface="Times New Roman"/>
              </a:rPr>
              <a:t>Potassium</a:t>
            </a:r>
            <a:r>
              <a:rPr sz="2000" spc="-50" dirty="0">
                <a:latin typeface="Times New Roman"/>
                <a:cs typeface="Times New Roman"/>
              </a:rPr>
              <a:t> </a:t>
            </a:r>
            <a:r>
              <a:rPr sz="2000" spc="-20" dirty="0">
                <a:latin typeface="Times New Roman"/>
                <a:cs typeface="Times New Roman"/>
              </a:rPr>
              <a:t>(K),</a:t>
            </a:r>
            <a:endParaRPr sz="2000" dirty="0">
              <a:latin typeface="Times New Roman"/>
              <a:cs typeface="Times New Roman"/>
            </a:endParaRPr>
          </a:p>
          <a:p>
            <a:pPr marL="329565" marR="107314">
              <a:lnSpc>
                <a:spcPct val="150000"/>
              </a:lnSpc>
              <a:spcBef>
                <a:spcPts val="5"/>
              </a:spcBef>
            </a:pPr>
            <a:r>
              <a:rPr sz="2000" dirty="0">
                <a:latin typeface="Times New Roman"/>
                <a:cs typeface="Times New Roman"/>
              </a:rPr>
              <a:t>pH,</a:t>
            </a:r>
            <a:r>
              <a:rPr sz="2000" spc="85" dirty="0">
                <a:latin typeface="Times New Roman"/>
                <a:cs typeface="Times New Roman"/>
              </a:rPr>
              <a:t> </a:t>
            </a:r>
            <a:r>
              <a:rPr sz="2000" dirty="0">
                <a:latin typeface="Times New Roman"/>
                <a:cs typeface="Times New Roman"/>
              </a:rPr>
              <a:t>Temperature,</a:t>
            </a:r>
            <a:r>
              <a:rPr sz="2000" spc="75" dirty="0">
                <a:latin typeface="Times New Roman"/>
                <a:cs typeface="Times New Roman"/>
              </a:rPr>
              <a:t> </a:t>
            </a:r>
            <a:r>
              <a:rPr sz="2000" dirty="0">
                <a:latin typeface="Times New Roman"/>
                <a:cs typeface="Times New Roman"/>
              </a:rPr>
              <a:t>Humidity</a:t>
            </a:r>
            <a:r>
              <a:rPr lang="en-US" sz="2000" dirty="0">
                <a:latin typeface="Times New Roman"/>
                <a:cs typeface="Times New Roman"/>
              </a:rPr>
              <a:t> </a:t>
            </a:r>
            <a:r>
              <a:rPr sz="2000" dirty="0">
                <a:latin typeface="Times New Roman"/>
                <a:cs typeface="Times New Roman"/>
              </a:rPr>
              <a:t>and</a:t>
            </a:r>
            <a:r>
              <a:rPr sz="2000" spc="90" dirty="0">
                <a:latin typeface="Times New Roman"/>
                <a:cs typeface="Times New Roman"/>
              </a:rPr>
              <a:t> </a:t>
            </a:r>
            <a:r>
              <a:rPr sz="2000" dirty="0">
                <a:latin typeface="Times New Roman"/>
                <a:cs typeface="Times New Roman"/>
              </a:rPr>
              <a:t>Rainfall</a:t>
            </a:r>
            <a:r>
              <a:rPr lang="en-US" sz="2000" dirty="0">
                <a:latin typeface="Times New Roman"/>
                <a:cs typeface="Times New Roman"/>
              </a:rPr>
              <a:t> to</a:t>
            </a:r>
            <a:r>
              <a:rPr sz="2000" spc="-20" dirty="0">
                <a:latin typeface="Times New Roman"/>
                <a:cs typeface="Times New Roman"/>
              </a:rPr>
              <a:t> </a:t>
            </a:r>
            <a:r>
              <a:rPr sz="2000" dirty="0">
                <a:latin typeface="Times New Roman"/>
                <a:cs typeface="Times New Roman"/>
              </a:rPr>
              <a:t>optimize</a:t>
            </a:r>
            <a:r>
              <a:rPr sz="2000" spc="-25" dirty="0">
                <a:latin typeface="Times New Roman"/>
                <a:cs typeface="Times New Roman"/>
              </a:rPr>
              <a:t> </a:t>
            </a:r>
            <a:r>
              <a:rPr sz="2000" spc="-10" dirty="0">
                <a:latin typeface="Times New Roman"/>
                <a:cs typeface="Times New Roman"/>
              </a:rPr>
              <a:t>yield.</a:t>
            </a:r>
            <a:endParaRPr sz="2000" dirty="0">
              <a:latin typeface="Times New Roman"/>
              <a:cs typeface="Times New Roman"/>
            </a:endParaRPr>
          </a:p>
          <a:p>
            <a:pPr marL="355600" marR="5080" indent="-342900" algn="just">
              <a:lnSpc>
                <a:spcPct val="150000"/>
              </a:lnSpc>
              <a:buFont typeface="Wingdings"/>
              <a:buChar char=""/>
              <a:tabLst>
                <a:tab pos="355600" algn="l"/>
              </a:tabLst>
            </a:pPr>
            <a:r>
              <a:rPr lang="en-US" sz="2000" spc="-10" dirty="0">
                <a:latin typeface="Times New Roman"/>
                <a:cs typeface="Times New Roman"/>
              </a:rPr>
              <a:t>The system compares the user’s soil and weather inputs with the Kaggle datasets- </a:t>
            </a:r>
            <a:r>
              <a:rPr lang="en-US" sz="2000" dirty="0">
                <a:latin typeface="Times New Roman"/>
                <a:cs typeface="Times New Roman"/>
              </a:rPr>
              <a:t>like</a:t>
            </a:r>
            <a:r>
              <a:rPr lang="en-US" sz="2000" spc="150" dirty="0">
                <a:latin typeface="Times New Roman"/>
                <a:cs typeface="Times New Roman"/>
              </a:rPr>
              <a:t>  </a:t>
            </a:r>
            <a:r>
              <a:rPr lang="en-US" sz="2000" b="1" dirty="0">
                <a:latin typeface="Times New Roman"/>
                <a:cs typeface="Times New Roman"/>
              </a:rPr>
              <a:t>crop_recommendation.csv</a:t>
            </a:r>
            <a:r>
              <a:rPr lang="en-US" sz="2000" b="1" spc="155" dirty="0">
                <a:latin typeface="Times New Roman"/>
                <a:cs typeface="Times New Roman"/>
              </a:rPr>
              <a:t>  </a:t>
            </a:r>
            <a:r>
              <a:rPr lang="en-US" sz="2000" dirty="0">
                <a:latin typeface="Times New Roman"/>
                <a:cs typeface="Times New Roman"/>
              </a:rPr>
              <a:t>and</a:t>
            </a:r>
            <a:r>
              <a:rPr lang="en-US" sz="2000" spc="150" dirty="0">
                <a:latin typeface="Times New Roman"/>
                <a:cs typeface="Times New Roman"/>
              </a:rPr>
              <a:t>  </a:t>
            </a:r>
            <a:r>
              <a:rPr lang="en-US" sz="2000" b="1" dirty="0">
                <a:latin typeface="Times New Roman"/>
                <a:cs typeface="Times New Roman"/>
              </a:rPr>
              <a:t>fertilizer.csv</a:t>
            </a:r>
            <a:r>
              <a:rPr lang="en-US" sz="2000" spc="-10" dirty="0">
                <a:latin typeface="Times New Roman"/>
                <a:cs typeface="Times New Roman"/>
              </a:rPr>
              <a:t> using </a:t>
            </a:r>
            <a:r>
              <a:rPr lang="en-US" sz="2000" b="1" spc="-10" dirty="0">
                <a:latin typeface="Times New Roman"/>
                <a:cs typeface="Times New Roman"/>
              </a:rPr>
              <a:t>Random Forest Algorithm </a:t>
            </a:r>
            <a:r>
              <a:rPr lang="en-US" sz="2000" spc="-10" dirty="0">
                <a:latin typeface="Times New Roman"/>
                <a:cs typeface="Times New Roman"/>
              </a:rPr>
              <a:t>to enhance farming efficiency and sustainability.</a:t>
            </a:r>
          </a:p>
          <a:p>
            <a:pPr marL="355600" marR="5080" indent="-342900" algn="just">
              <a:lnSpc>
                <a:spcPct val="150000"/>
              </a:lnSpc>
              <a:buFont typeface="Wingdings"/>
              <a:buChar char=""/>
              <a:tabLst>
                <a:tab pos="355600" algn="l"/>
              </a:tabLst>
            </a:pPr>
            <a:r>
              <a:rPr lang="en-US" sz="2000" spc="-10" dirty="0">
                <a:latin typeface="Times New Roman"/>
                <a:cs typeface="Times New Roman"/>
              </a:rPr>
              <a:t>The system supports farmers with accurate, science-based suggestions. It helps improve decisions related to crop selection and fertilizer use.</a:t>
            </a:r>
          </a:p>
          <a:p>
            <a:pPr marL="355600" marR="5080" indent="-342900" algn="just">
              <a:lnSpc>
                <a:spcPct val="150000"/>
              </a:lnSpc>
              <a:buFont typeface="Wingdings"/>
              <a:buChar char=""/>
              <a:tabLst>
                <a:tab pos="355600" algn="l"/>
              </a:tabLst>
            </a:pPr>
            <a:endParaRPr sz="2000" dirty="0">
              <a:latin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3156267" y="228600"/>
            <a:ext cx="5879465" cy="635000"/>
          </a:xfrm>
          <a:prstGeom prst="rect">
            <a:avLst/>
          </a:prstGeom>
        </p:spPr>
        <p:txBody>
          <a:bodyPr vert="horz" wrap="square" lIns="0" tIns="12065" rIns="0" bIns="0" rtlCol="0">
            <a:spAutoFit/>
          </a:bodyPr>
          <a:lstStyle/>
          <a:p>
            <a:pPr marL="12700">
              <a:lnSpc>
                <a:spcPct val="100000"/>
              </a:lnSpc>
              <a:spcBef>
                <a:spcPts val="95"/>
              </a:spcBef>
            </a:pPr>
            <a:r>
              <a:rPr dirty="0"/>
              <a:t>P</a:t>
            </a:r>
            <a:r>
              <a:rPr lang="en-US" dirty="0"/>
              <a:t>roblem</a:t>
            </a:r>
            <a:r>
              <a:rPr spc="-105" dirty="0"/>
              <a:t> </a:t>
            </a:r>
            <a:r>
              <a:rPr spc="-10" dirty="0"/>
              <a:t>S</a:t>
            </a:r>
            <a:r>
              <a:rPr lang="en-US" spc="-10" dirty="0"/>
              <a:t>tatement</a:t>
            </a:r>
            <a:endParaRPr spc="-10" dirty="0"/>
          </a:p>
        </p:txBody>
      </p:sp>
      <p:sp>
        <p:nvSpPr>
          <p:cNvPr id="3" name="object 3"/>
          <p:cNvSpPr txBox="1"/>
          <p:nvPr/>
        </p:nvSpPr>
        <p:spPr>
          <a:xfrm>
            <a:off x="457200" y="1447800"/>
            <a:ext cx="10878820" cy="1802866"/>
          </a:xfrm>
          <a:prstGeom prst="rect">
            <a:avLst/>
          </a:prstGeom>
        </p:spPr>
        <p:txBody>
          <a:bodyPr vert="horz" wrap="square" lIns="0" tIns="11430" rIns="0" bIns="0" rtlCol="0">
            <a:spAutoFit/>
          </a:bodyPr>
          <a:lstStyle/>
          <a:p>
            <a:pPr marL="12700" marR="5080" algn="just">
              <a:lnSpc>
                <a:spcPct val="150100"/>
              </a:lnSpc>
              <a:spcBef>
                <a:spcPts val="90"/>
              </a:spcBef>
            </a:pPr>
            <a:r>
              <a:rPr sz="2000" b="1" dirty="0">
                <a:latin typeface="Times New Roman"/>
                <a:cs typeface="Times New Roman"/>
              </a:rPr>
              <a:t>“</a:t>
            </a:r>
            <a:r>
              <a:rPr sz="2000" b="1" spc="145" dirty="0">
                <a:latin typeface="Times New Roman"/>
                <a:cs typeface="Times New Roman"/>
              </a:rPr>
              <a:t> </a:t>
            </a:r>
            <a:r>
              <a:rPr sz="2000" b="1" dirty="0">
                <a:latin typeface="Times New Roman"/>
                <a:cs typeface="Times New Roman"/>
              </a:rPr>
              <a:t>Farmers</a:t>
            </a:r>
            <a:r>
              <a:rPr sz="2000" b="1" spc="130" dirty="0">
                <a:latin typeface="Times New Roman"/>
                <a:cs typeface="Times New Roman"/>
              </a:rPr>
              <a:t> </a:t>
            </a:r>
            <a:r>
              <a:rPr sz="2000" b="1" dirty="0">
                <a:latin typeface="Times New Roman"/>
                <a:cs typeface="Times New Roman"/>
              </a:rPr>
              <a:t>face</a:t>
            </a:r>
            <a:r>
              <a:rPr sz="2000" b="1" spc="130" dirty="0">
                <a:latin typeface="Times New Roman"/>
                <a:cs typeface="Times New Roman"/>
              </a:rPr>
              <a:t> </a:t>
            </a:r>
            <a:r>
              <a:rPr sz="2000" b="1" dirty="0">
                <a:latin typeface="Times New Roman"/>
                <a:cs typeface="Times New Roman"/>
              </a:rPr>
              <a:t>challenges</a:t>
            </a:r>
            <a:r>
              <a:rPr sz="2000" b="1" spc="140" dirty="0">
                <a:latin typeface="Times New Roman"/>
                <a:cs typeface="Times New Roman"/>
              </a:rPr>
              <a:t> </a:t>
            </a:r>
            <a:r>
              <a:rPr sz="2000" b="1" dirty="0">
                <a:latin typeface="Times New Roman"/>
                <a:cs typeface="Times New Roman"/>
              </a:rPr>
              <a:t>in</a:t>
            </a:r>
            <a:r>
              <a:rPr sz="2000" b="1" spc="130" dirty="0">
                <a:latin typeface="Times New Roman"/>
                <a:cs typeface="Times New Roman"/>
              </a:rPr>
              <a:t> </a:t>
            </a:r>
            <a:r>
              <a:rPr sz="2000" b="1" dirty="0">
                <a:latin typeface="Times New Roman"/>
                <a:cs typeface="Times New Roman"/>
              </a:rPr>
              <a:t>selecting</a:t>
            </a:r>
            <a:r>
              <a:rPr sz="2000" b="1" spc="140" dirty="0">
                <a:latin typeface="Times New Roman"/>
                <a:cs typeface="Times New Roman"/>
              </a:rPr>
              <a:t> </a:t>
            </a:r>
            <a:r>
              <a:rPr sz="2000" b="1" dirty="0">
                <a:latin typeface="Times New Roman"/>
                <a:cs typeface="Times New Roman"/>
              </a:rPr>
              <a:t>the</a:t>
            </a:r>
            <a:r>
              <a:rPr sz="2000" b="1" spc="125" dirty="0">
                <a:latin typeface="Times New Roman"/>
                <a:cs typeface="Times New Roman"/>
              </a:rPr>
              <a:t> </a:t>
            </a:r>
            <a:r>
              <a:rPr lang="en-US" sz="2000" b="1" spc="125" dirty="0">
                <a:latin typeface="Times New Roman"/>
                <a:cs typeface="Times New Roman"/>
              </a:rPr>
              <a:t>suitable</a:t>
            </a:r>
            <a:r>
              <a:rPr sz="2000" b="1" spc="135" dirty="0">
                <a:latin typeface="Times New Roman"/>
                <a:cs typeface="Times New Roman"/>
              </a:rPr>
              <a:t> </a:t>
            </a:r>
            <a:r>
              <a:rPr sz="2000" b="1" dirty="0">
                <a:latin typeface="Times New Roman"/>
                <a:cs typeface="Times New Roman"/>
              </a:rPr>
              <a:t>crop</a:t>
            </a:r>
            <a:r>
              <a:rPr sz="2000" b="1" spc="140" dirty="0">
                <a:latin typeface="Times New Roman"/>
                <a:cs typeface="Times New Roman"/>
              </a:rPr>
              <a:t> </a:t>
            </a:r>
            <a:r>
              <a:rPr sz="2000" b="1" dirty="0">
                <a:latin typeface="Times New Roman"/>
                <a:cs typeface="Times New Roman"/>
              </a:rPr>
              <a:t>and</a:t>
            </a:r>
            <a:r>
              <a:rPr sz="2000" b="1" spc="140" dirty="0">
                <a:latin typeface="Times New Roman"/>
                <a:cs typeface="Times New Roman"/>
              </a:rPr>
              <a:t> </a:t>
            </a:r>
            <a:r>
              <a:rPr sz="2000" b="1" dirty="0">
                <a:latin typeface="Times New Roman"/>
                <a:cs typeface="Times New Roman"/>
              </a:rPr>
              <a:t>fertilizer</a:t>
            </a:r>
            <a:r>
              <a:rPr sz="2000" b="1" spc="140" dirty="0">
                <a:latin typeface="Times New Roman"/>
                <a:cs typeface="Times New Roman"/>
              </a:rPr>
              <a:t> </a:t>
            </a:r>
            <a:r>
              <a:rPr sz="2000" b="1" dirty="0">
                <a:latin typeface="Times New Roman"/>
                <a:cs typeface="Times New Roman"/>
              </a:rPr>
              <a:t>due</a:t>
            </a:r>
            <a:r>
              <a:rPr sz="2000" b="1" spc="135" dirty="0">
                <a:latin typeface="Times New Roman"/>
                <a:cs typeface="Times New Roman"/>
              </a:rPr>
              <a:t> </a:t>
            </a:r>
            <a:r>
              <a:rPr sz="2000" b="1" dirty="0">
                <a:latin typeface="Times New Roman"/>
                <a:cs typeface="Times New Roman"/>
              </a:rPr>
              <a:t>to</a:t>
            </a:r>
            <a:r>
              <a:rPr sz="2000" b="1" spc="135" dirty="0">
                <a:latin typeface="Times New Roman"/>
                <a:cs typeface="Times New Roman"/>
              </a:rPr>
              <a:t> </a:t>
            </a:r>
            <a:r>
              <a:rPr sz="2000" b="1" dirty="0">
                <a:latin typeface="Times New Roman"/>
                <a:cs typeface="Times New Roman"/>
              </a:rPr>
              <a:t>limited</a:t>
            </a:r>
            <a:r>
              <a:rPr sz="2000" b="1" spc="145" dirty="0">
                <a:latin typeface="Times New Roman"/>
                <a:cs typeface="Times New Roman"/>
              </a:rPr>
              <a:t> </a:t>
            </a:r>
            <a:r>
              <a:rPr sz="2000" b="1" dirty="0">
                <a:latin typeface="Times New Roman"/>
                <a:cs typeface="Times New Roman"/>
              </a:rPr>
              <a:t>access</a:t>
            </a:r>
            <a:r>
              <a:rPr sz="2000" b="1" spc="125" dirty="0">
                <a:latin typeface="Times New Roman"/>
                <a:cs typeface="Times New Roman"/>
              </a:rPr>
              <a:t> </a:t>
            </a:r>
            <a:r>
              <a:rPr sz="2000" b="1" dirty="0">
                <a:latin typeface="Times New Roman"/>
                <a:cs typeface="Times New Roman"/>
              </a:rPr>
              <a:t>to</a:t>
            </a:r>
            <a:r>
              <a:rPr sz="2000" b="1" spc="140" dirty="0">
                <a:latin typeface="Times New Roman"/>
                <a:cs typeface="Times New Roman"/>
              </a:rPr>
              <a:t> </a:t>
            </a:r>
            <a:r>
              <a:rPr lang="en-IN" sz="2000" b="1" spc="140" dirty="0">
                <a:latin typeface="Times New Roman"/>
                <a:cs typeface="Times New Roman"/>
              </a:rPr>
              <a:t>scientific</a:t>
            </a:r>
            <a:r>
              <a:rPr lang="en-IN" sz="2000" b="1" dirty="0">
                <a:latin typeface="Times New Roman"/>
                <a:cs typeface="Times New Roman"/>
              </a:rPr>
              <a:t>,</a:t>
            </a:r>
            <a:r>
              <a:rPr sz="2000" b="1" spc="140" dirty="0">
                <a:latin typeface="Times New Roman"/>
                <a:cs typeface="Times New Roman"/>
              </a:rPr>
              <a:t> </a:t>
            </a:r>
            <a:r>
              <a:rPr sz="2000" b="1" spc="-10" dirty="0">
                <a:latin typeface="Times New Roman"/>
                <a:cs typeface="Times New Roman"/>
              </a:rPr>
              <a:t>data</a:t>
            </a:r>
            <a:r>
              <a:rPr lang="en-IN" sz="2000" b="1" spc="-10" dirty="0">
                <a:latin typeface="Times New Roman"/>
                <a:cs typeface="Times New Roman"/>
              </a:rPr>
              <a:t>- </a:t>
            </a:r>
            <a:r>
              <a:rPr lang="en-IN" sz="2000" b="1" dirty="0">
                <a:latin typeface="Times New Roman"/>
                <a:cs typeface="Times New Roman"/>
              </a:rPr>
              <a:t>driven</a:t>
            </a:r>
            <a:r>
              <a:rPr sz="2000" b="1" spc="225" dirty="0">
                <a:latin typeface="Times New Roman"/>
                <a:cs typeface="Times New Roman"/>
              </a:rPr>
              <a:t> </a:t>
            </a:r>
            <a:r>
              <a:rPr sz="2000" b="1" dirty="0">
                <a:latin typeface="Times New Roman"/>
                <a:cs typeface="Times New Roman"/>
              </a:rPr>
              <a:t>recommendations</a:t>
            </a:r>
            <a:r>
              <a:rPr lang="en-IN" sz="2000" b="1" spc="229" dirty="0">
                <a:latin typeface="Times New Roman"/>
                <a:cs typeface="Times New Roman"/>
              </a:rPr>
              <a:t> </a:t>
            </a:r>
            <a:r>
              <a:rPr lang="en-IN" sz="2000" b="1" dirty="0">
                <a:latin typeface="Times New Roman"/>
                <a:cs typeface="Times New Roman"/>
              </a:rPr>
              <a:t>based</a:t>
            </a:r>
            <a:r>
              <a:rPr lang="en-IN" sz="2000" b="1" spc="225" dirty="0">
                <a:latin typeface="Times New Roman"/>
                <a:cs typeface="Times New Roman"/>
              </a:rPr>
              <a:t> </a:t>
            </a:r>
            <a:r>
              <a:rPr lang="en-IN" sz="2000" b="1" dirty="0">
                <a:latin typeface="Times New Roman"/>
                <a:cs typeface="Times New Roman"/>
              </a:rPr>
              <a:t>on</a:t>
            </a:r>
            <a:r>
              <a:rPr lang="en-IN" sz="2000" b="1" spc="240" dirty="0">
                <a:latin typeface="Times New Roman"/>
                <a:cs typeface="Times New Roman"/>
              </a:rPr>
              <a:t> </a:t>
            </a:r>
            <a:r>
              <a:rPr lang="en-IN" sz="2000" b="1" dirty="0">
                <a:latin typeface="Times New Roman"/>
                <a:cs typeface="Times New Roman"/>
              </a:rPr>
              <a:t>soil</a:t>
            </a:r>
            <a:r>
              <a:rPr lang="en-IN" sz="2000" b="1" spc="229" dirty="0">
                <a:latin typeface="Times New Roman"/>
                <a:cs typeface="Times New Roman"/>
              </a:rPr>
              <a:t> </a:t>
            </a:r>
            <a:r>
              <a:rPr lang="en-IN" sz="2000" b="1" dirty="0">
                <a:latin typeface="Times New Roman"/>
                <a:cs typeface="Times New Roman"/>
              </a:rPr>
              <a:t>and</a:t>
            </a:r>
            <a:r>
              <a:rPr lang="en-IN" sz="2000" b="1" spc="235" dirty="0">
                <a:latin typeface="Times New Roman"/>
                <a:cs typeface="Times New Roman"/>
              </a:rPr>
              <a:t> </a:t>
            </a:r>
            <a:r>
              <a:rPr lang="en-IN" sz="2000" b="1" dirty="0">
                <a:latin typeface="Times New Roman"/>
                <a:cs typeface="Times New Roman"/>
              </a:rPr>
              <a:t>environmental</a:t>
            </a:r>
            <a:r>
              <a:rPr lang="en-IN" sz="2000" b="1" spc="240" dirty="0">
                <a:latin typeface="Times New Roman"/>
                <a:cs typeface="Times New Roman"/>
              </a:rPr>
              <a:t> </a:t>
            </a:r>
            <a:r>
              <a:rPr lang="en-IN" sz="2000" b="1" dirty="0">
                <a:latin typeface="Times New Roman"/>
                <a:cs typeface="Times New Roman"/>
              </a:rPr>
              <a:t>conditions.</a:t>
            </a:r>
            <a:r>
              <a:rPr lang="en-IN" sz="2000" b="1" spc="225" dirty="0">
                <a:latin typeface="Times New Roman"/>
                <a:cs typeface="Times New Roman"/>
              </a:rPr>
              <a:t> </a:t>
            </a:r>
            <a:r>
              <a:rPr sz="2000" b="1" dirty="0">
                <a:latin typeface="Times New Roman"/>
                <a:cs typeface="Times New Roman"/>
              </a:rPr>
              <a:t>This</a:t>
            </a:r>
            <a:r>
              <a:rPr sz="2000" b="1" spc="235" dirty="0">
                <a:latin typeface="Times New Roman"/>
                <a:cs typeface="Times New Roman"/>
              </a:rPr>
              <a:t> </a:t>
            </a:r>
            <a:r>
              <a:rPr sz="2000" b="1" dirty="0">
                <a:latin typeface="Times New Roman"/>
                <a:cs typeface="Times New Roman"/>
              </a:rPr>
              <a:t>leads</a:t>
            </a:r>
            <a:r>
              <a:rPr sz="2000" b="1" spc="235" dirty="0">
                <a:latin typeface="Times New Roman"/>
                <a:cs typeface="Times New Roman"/>
              </a:rPr>
              <a:t> </a:t>
            </a:r>
            <a:r>
              <a:rPr sz="2000" b="1" dirty="0">
                <a:latin typeface="Times New Roman"/>
                <a:cs typeface="Times New Roman"/>
              </a:rPr>
              <a:t>to</a:t>
            </a:r>
            <a:r>
              <a:rPr sz="2000" b="1" spc="225" dirty="0">
                <a:latin typeface="Times New Roman"/>
                <a:cs typeface="Times New Roman"/>
              </a:rPr>
              <a:t> </a:t>
            </a:r>
            <a:r>
              <a:rPr sz="2000" b="1" dirty="0">
                <a:latin typeface="Times New Roman"/>
                <a:cs typeface="Times New Roman"/>
              </a:rPr>
              <a:t>reduced</a:t>
            </a:r>
            <a:r>
              <a:rPr sz="2000" b="1" spc="245" dirty="0">
                <a:latin typeface="Times New Roman"/>
                <a:cs typeface="Times New Roman"/>
              </a:rPr>
              <a:t> </a:t>
            </a:r>
            <a:r>
              <a:rPr sz="2000" b="1" dirty="0">
                <a:latin typeface="Times New Roman"/>
                <a:cs typeface="Times New Roman"/>
              </a:rPr>
              <a:t>crop</a:t>
            </a:r>
            <a:r>
              <a:rPr sz="2000" b="1" spc="245" dirty="0">
                <a:latin typeface="Times New Roman"/>
                <a:cs typeface="Times New Roman"/>
              </a:rPr>
              <a:t> </a:t>
            </a:r>
            <a:r>
              <a:rPr sz="2000" b="1" spc="-10" dirty="0">
                <a:latin typeface="Times New Roman"/>
                <a:cs typeface="Times New Roman"/>
              </a:rPr>
              <a:t>yield, </a:t>
            </a:r>
            <a:r>
              <a:rPr sz="2000" b="1" dirty="0">
                <a:latin typeface="Times New Roman"/>
                <a:cs typeface="Times New Roman"/>
              </a:rPr>
              <a:t>i</a:t>
            </a:r>
            <a:r>
              <a:rPr lang="en-US" sz="2000" b="1" dirty="0">
                <a:latin typeface="Times New Roman"/>
                <a:cs typeface="Times New Roman"/>
              </a:rPr>
              <a:t>nefficient</a:t>
            </a:r>
            <a:r>
              <a:rPr sz="2000" b="1" spc="-65" dirty="0">
                <a:latin typeface="Times New Roman"/>
                <a:cs typeface="Times New Roman"/>
              </a:rPr>
              <a:t> </a:t>
            </a:r>
            <a:r>
              <a:rPr sz="2000" b="1" dirty="0">
                <a:latin typeface="Times New Roman"/>
                <a:cs typeface="Times New Roman"/>
              </a:rPr>
              <a:t>fertilizer</a:t>
            </a:r>
            <a:r>
              <a:rPr sz="2000" b="1" spc="-70" dirty="0">
                <a:latin typeface="Times New Roman"/>
                <a:cs typeface="Times New Roman"/>
              </a:rPr>
              <a:t> </a:t>
            </a:r>
            <a:r>
              <a:rPr sz="2000" b="1" dirty="0">
                <a:latin typeface="Times New Roman"/>
                <a:cs typeface="Times New Roman"/>
              </a:rPr>
              <a:t>use,</a:t>
            </a:r>
            <a:r>
              <a:rPr sz="2000" b="1" spc="-45" dirty="0">
                <a:latin typeface="Times New Roman"/>
                <a:cs typeface="Times New Roman"/>
              </a:rPr>
              <a:t> </a:t>
            </a:r>
            <a:r>
              <a:rPr lang="en-US" sz="2000" b="1" spc="-45" dirty="0">
                <a:latin typeface="Times New Roman"/>
                <a:cs typeface="Times New Roman"/>
              </a:rPr>
              <a:t>environmental harm, </a:t>
            </a:r>
            <a:r>
              <a:rPr sz="2000" b="1" dirty="0">
                <a:latin typeface="Times New Roman"/>
                <a:cs typeface="Times New Roman"/>
              </a:rPr>
              <a:t>and</a:t>
            </a:r>
            <a:r>
              <a:rPr lang="en-IN" sz="2000" b="1" spc="-30" dirty="0">
                <a:latin typeface="Times New Roman"/>
                <a:cs typeface="Times New Roman"/>
              </a:rPr>
              <a:t> </a:t>
            </a:r>
            <a:r>
              <a:rPr lang="en-IN" sz="2000" b="1" dirty="0">
                <a:latin typeface="Times New Roman"/>
                <a:cs typeface="Times New Roman"/>
              </a:rPr>
              <a:t>decreased</a:t>
            </a:r>
            <a:r>
              <a:rPr lang="en-IN" sz="2000" b="1" spc="-80" dirty="0">
                <a:latin typeface="Times New Roman"/>
                <a:cs typeface="Times New Roman"/>
              </a:rPr>
              <a:t> </a:t>
            </a:r>
            <a:r>
              <a:rPr lang="en-IN" sz="2000" b="1" dirty="0">
                <a:latin typeface="Times New Roman"/>
                <a:cs typeface="Times New Roman"/>
              </a:rPr>
              <a:t>agricultural</a:t>
            </a:r>
            <a:r>
              <a:rPr lang="en-IN" sz="2000" b="1" spc="-90" dirty="0">
                <a:latin typeface="Times New Roman"/>
                <a:cs typeface="Times New Roman"/>
              </a:rPr>
              <a:t> </a:t>
            </a:r>
            <a:r>
              <a:rPr lang="en-IN" sz="2000" b="1" dirty="0">
                <a:latin typeface="Times New Roman"/>
                <a:cs typeface="Times New Roman"/>
              </a:rPr>
              <a:t>productivity</a:t>
            </a:r>
            <a:r>
              <a:rPr sz="2000" b="1" spc="-95" dirty="0">
                <a:latin typeface="Times New Roman"/>
                <a:cs typeface="Times New Roman"/>
              </a:rPr>
              <a:t> </a:t>
            </a:r>
            <a:r>
              <a:rPr sz="2000" b="1" spc="-25" dirty="0">
                <a:latin typeface="Times New Roman"/>
                <a:cs typeface="Times New Roman"/>
              </a:rPr>
              <a:t>”.</a:t>
            </a:r>
            <a:endParaRPr sz="2000" b="1" dirty="0">
              <a:latin typeface="Times New Roman"/>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81933" y="152400"/>
            <a:ext cx="5628131" cy="635000"/>
          </a:xfrm>
          <a:prstGeom prst="rect">
            <a:avLst/>
          </a:prstGeom>
        </p:spPr>
        <p:txBody>
          <a:bodyPr vert="horz" wrap="square" lIns="0" tIns="12065" rIns="0" bIns="0" rtlCol="0">
            <a:spAutoFit/>
          </a:bodyPr>
          <a:lstStyle/>
          <a:p>
            <a:pPr marL="1214120">
              <a:lnSpc>
                <a:spcPct val="100000"/>
              </a:lnSpc>
              <a:spcBef>
                <a:spcPts val="95"/>
              </a:spcBef>
            </a:pPr>
            <a:r>
              <a:rPr spc="-60" dirty="0"/>
              <a:t>M</a:t>
            </a:r>
            <a:r>
              <a:rPr lang="en-US" spc="-60" dirty="0"/>
              <a:t>otivation</a:t>
            </a:r>
            <a:endParaRPr spc="-60" dirty="0"/>
          </a:p>
        </p:txBody>
      </p:sp>
      <p:sp>
        <p:nvSpPr>
          <p:cNvPr id="3" name="object 3"/>
          <p:cNvSpPr txBox="1"/>
          <p:nvPr/>
        </p:nvSpPr>
        <p:spPr>
          <a:xfrm>
            <a:off x="507363" y="1353848"/>
            <a:ext cx="11177270" cy="4150303"/>
          </a:xfrm>
          <a:prstGeom prst="rect">
            <a:avLst/>
          </a:prstGeom>
        </p:spPr>
        <p:txBody>
          <a:bodyPr vert="horz" wrap="square" lIns="0" tIns="12065" rIns="0" bIns="0" rtlCol="0">
            <a:spAutoFit/>
          </a:bodyPr>
          <a:lstStyle/>
          <a:p>
            <a:pPr marL="12700" marR="5080" algn="just">
              <a:lnSpc>
                <a:spcPct val="150000"/>
              </a:lnSpc>
              <a:spcBef>
                <a:spcPts val="95"/>
              </a:spcBef>
            </a:pPr>
            <a:r>
              <a:rPr sz="2000" b="1" dirty="0">
                <a:latin typeface="Times New Roman"/>
                <a:cs typeface="Times New Roman"/>
              </a:rPr>
              <a:t>Farmer</a:t>
            </a:r>
            <a:r>
              <a:rPr lang="en-US" sz="2000" b="1" dirty="0">
                <a:latin typeface="Times New Roman"/>
                <a:cs typeface="Times New Roman"/>
              </a:rPr>
              <a:t>s often depend on traditional methods and guesswork to decide which crop or fertilizer to use, and this made us understand the importance of proper guidance.</a:t>
            </a:r>
          </a:p>
          <a:p>
            <a:pPr marL="342900" marR="5080" indent="-342900" algn="just">
              <a:lnSpc>
                <a:spcPct val="150000"/>
              </a:lnSpc>
              <a:spcBef>
                <a:spcPts val="95"/>
              </a:spcBef>
              <a:buFont typeface="Wingdings" panose="05000000000000000000" pitchFamily="2" charset="2"/>
              <a:buChar char="v"/>
            </a:pPr>
            <a:r>
              <a:rPr lang="en-US" sz="2000" dirty="0">
                <a:latin typeface="Times New Roman"/>
                <a:cs typeface="Times New Roman"/>
              </a:rPr>
              <a:t>During our exposure to agricultural programs and farm training, We realized how valuable expert guidance is in every stage, like from choosing right crop ,soil preparation to fertilizer application. Such guidance is not easily available to all farmers, especially in rural areas.</a:t>
            </a:r>
          </a:p>
          <a:p>
            <a:pPr marL="355600" marR="5080" indent="-342900" algn="just">
              <a:lnSpc>
                <a:spcPct val="150000"/>
              </a:lnSpc>
              <a:spcBef>
                <a:spcPts val="95"/>
              </a:spcBef>
              <a:buFont typeface="Wingdings" panose="05000000000000000000" pitchFamily="2" charset="2"/>
              <a:buChar char="v"/>
            </a:pPr>
            <a:r>
              <a:rPr lang="en-US" sz="2000" dirty="0">
                <a:latin typeface="Times New Roman"/>
                <a:cs typeface="Times New Roman"/>
              </a:rPr>
              <a:t>Our aim is to bring this expert support digitally through Farmer Assistant, making scientific recommendations accessible to everyone.</a:t>
            </a:r>
          </a:p>
          <a:p>
            <a:pPr marL="355600" marR="5080" indent="-342900" algn="just">
              <a:lnSpc>
                <a:spcPct val="150000"/>
              </a:lnSpc>
              <a:spcBef>
                <a:spcPts val="95"/>
              </a:spcBef>
              <a:buFont typeface="Wingdings" panose="05000000000000000000" pitchFamily="2" charset="2"/>
              <a:buChar char="v"/>
            </a:pPr>
            <a:r>
              <a:rPr lang="en-US" sz="2000" dirty="0">
                <a:latin typeface="Times New Roman"/>
                <a:cs typeface="Times New Roman"/>
              </a:rPr>
              <a:t>The system uses soil nutrient values(N, P, K, pH) instead of soil type names, since these parameters already represent the soil’s fertility and condition based on soil testing reports.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09500" y="853928"/>
            <a:ext cx="11372997" cy="5728941"/>
          </a:xfrm>
          <a:prstGeom prst="rect">
            <a:avLst/>
          </a:prstGeom>
        </p:spPr>
        <p:txBody>
          <a:bodyPr vert="horz" wrap="square" lIns="0" tIns="165735" rIns="0" bIns="0" rtlCol="0">
            <a:spAutoFit/>
          </a:bodyPr>
          <a:lstStyle/>
          <a:p>
            <a:pPr marL="12700" algn="just">
              <a:lnSpc>
                <a:spcPct val="150000"/>
              </a:lnSpc>
              <a:spcBef>
                <a:spcPts val="1305"/>
              </a:spcBef>
            </a:pPr>
            <a:r>
              <a:rPr sz="2000" b="1" u="sng" dirty="0">
                <a:uFill>
                  <a:solidFill>
                    <a:srgbClr val="000000"/>
                  </a:solidFill>
                </a:uFill>
                <a:latin typeface="Times New Roman"/>
                <a:cs typeface="Times New Roman"/>
              </a:rPr>
              <a:t>Aim:</a:t>
            </a:r>
            <a:r>
              <a:rPr lang="en-US" sz="2000" dirty="0">
                <a:uFill>
                  <a:solidFill>
                    <a:srgbClr val="000000"/>
                  </a:solidFill>
                </a:uFill>
                <a:latin typeface="Times New Roman"/>
                <a:cs typeface="Times New Roman"/>
              </a:rPr>
              <a:t> To develop a smart web-based system that recommends the best crop and the suitable fertilizer based on soil nutrients and weather conditions using machine-learning techniques.</a:t>
            </a:r>
          </a:p>
          <a:p>
            <a:pPr marL="12700" algn="just">
              <a:lnSpc>
                <a:spcPct val="150000"/>
              </a:lnSpc>
              <a:spcBef>
                <a:spcPts val="1305"/>
              </a:spcBef>
            </a:pPr>
            <a:r>
              <a:rPr lang="en-IN" sz="2000" b="1" u="sng" spc="-10" dirty="0">
                <a:uFill>
                  <a:solidFill>
                    <a:srgbClr val="000000"/>
                  </a:solidFill>
                </a:uFill>
                <a:latin typeface="Times New Roman"/>
                <a:cs typeface="Times New Roman"/>
              </a:rPr>
              <a:t>Objectives:</a:t>
            </a:r>
          </a:p>
          <a:p>
            <a:pPr marL="355600" indent="-342900" algn="just">
              <a:lnSpc>
                <a:spcPct val="150000"/>
              </a:lnSpc>
              <a:spcBef>
                <a:spcPts val="1305"/>
              </a:spcBef>
              <a:buFont typeface="Wingdings" panose="05000000000000000000" pitchFamily="2" charset="2"/>
              <a:buChar char="v"/>
            </a:pPr>
            <a:r>
              <a:rPr lang="en-US" sz="2000" spc="-10" dirty="0">
                <a:uFill>
                  <a:solidFill>
                    <a:srgbClr val="000000"/>
                  </a:solidFill>
                </a:uFill>
                <a:latin typeface="Times New Roman" panose="02020603050405020304" pitchFamily="18" charset="0"/>
                <a:cs typeface="Times New Roman" panose="02020603050405020304" pitchFamily="18" charset="0"/>
              </a:rPr>
              <a:t>To provide farmers with </a:t>
            </a:r>
            <a:r>
              <a:rPr lang="en-US" sz="2000" b="1" spc="-10" dirty="0">
                <a:uFill>
                  <a:solidFill>
                    <a:srgbClr val="000000"/>
                  </a:solidFill>
                </a:uFill>
                <a:latin typeface="Times New Roman" panose="02020603050405020304" pitchFamily="18" charset="0"/>
                <a:cs typeface="Times New Roman" panose="02020603050405020304" pitchFamily="18" charset="0"/>
              </a:rPr>
              <a:t>scientific, data-based crop recommendations </a:t>
            </a:r>
            <a:r>
              <a:rPr lang="en-US" sz="2000" spc="-10" dirty="0">
                <a:uFill>
                  <a:solidFill>
                    <a:srgbClr val="000000"/>
                  </a:solidFill>
                </a:uFill>
                <a:latin typeface="Times New Roman" panose="02020603050405020304" pitchFamily="18" charset="0"/>
                <a:cs typeface="Times New Roman" panose="02020603050405020304" pitchFamily="18" charset="0"/>
              </a:rPr>
              <a:t>instead of traditional guesswork.</a:t>
            </a:r>
          </a:p>
          <a:p>
            <a:pPr marL="355600" indent="-342900" algn="just">
              <a:lnSpc>
                <a:spcPct val="150000"/>
              </a:lnSpc>
              <a:spcBef>
                <a:spcPts val="1305"/>
              </a:spcBef>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To identify nutrient deficiencies in the soil and </a:t>
            </a:r>
            <a:r>
              <a:rPr lang="en-US" sz="2000" b="1" dirty="0">
                <a:latin typeface="Times New Roman" panose="02020603050405020304" pitchFamily="18" charset="0"/>
                <a:cs typeface="Times New Roman" panose="02020603050405020304" pitchFamily="18" charset="0"/>
              </a:rPr>
              <a:t>recommend </a:t>
            </a:r>
            <a:r>
              <a:rPr lang="en-US" sz="2000" dirty="0">
                <a:latin typeface="Times New Roman" panose="02020603050405020304" pitchFamily="18" charset="0"/>
                <a:cs typeface="Times New Roman" panose="02020603050405020304" pitchFamily="18" charset="0"/>
              </a:rPr>
              <a:t>the most suitable </a:t>
            </a:r>
            <a:r>
              <a:rPr lang="en-US" sz="2000" b="1" dirty="0">
                <a:latin typeface="Times New Roman" panose="02020603050405020304" pitchFamily="18" charset="0"/>
                <a:cs typeface="Times New Roman" panose="02020603050405020304" pitchFamily="18" charset="0"/>
              </a:rPr>
              <a:t>fertilizer</a:t>
            </a:r>
            <a:r>
              <a:rPr lang="en-US" sz="2000" dirty="0">
                <a:latin typeface="Times New Roman" panose="02020603050405020304" pitchFamily="18" charset="0"/>
                <a:cs typeface="Times New Roman" panose="02020603050405020304" pitchFamily="18" charset="0"/>
              </a:rPr>
              <a:t> for correcting them.</a:t>
            </a:r>
          </a:p>
          <a:p>
            <a:pPr marL="355600" indent="-342900" algn="just">
              <a:lnSpc>
                <a:spcPct val="150000"/>
              </a:lnSpc>
              <a:spcBef>
                <a:spcPts val="1305"/>
              </a:spcBef>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To make farming more digital </a:t>
            </a:r>
            <a:r>
              <a:rPr lang="en-US" sz="2000" dirty="0">
                <a:latin typeface="Times New Roman" panose="02020603050405020304" pitchFamily="18" charset="0"/>
                <a:cs typeface="Times New Roman" panose="02020603050405020304" pitchFamily="18" charset="0"/>
              </a:rPr>
              <a:t>by offering an easy online system where users can enter soil values and receive instant recommendations.</a:t>
            </a:r>
          </a:p>
          <a:p>
            <a:pPr marL="355600" indent="-342900" algn="just">
              <a:lnSpc>
                <a:spcPct val="150000"/>
              </a:lnSpc>
              <a:spcBef>
                <a:spcPts val="1305"/>
              </a:spcBef>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To </a:t>
            </a:r>
            <a:r>
              <a:rPr lang="en-US" sz="2000" b="1" dirty="0">
                <a:latin typeface="Times New Roman" panose="02020603050405020304" pitchFamily="18" charset="0"/>
                <a:cs typeface="Times New Roman" panose="02020603050405020304" pitchFamily="18" charset="0"/>
              </a:rPr>
              <a:t>support better agricultural decision-making </a:t>
            </a:r>
            <a:r>
              <a:rPr lang="en-US" sz="2000" dirty="0">
                <a:latin typeface="Times New Roman" panose="02020603050405020304" pitchFamily="18" charset="0"/>
                <a:cs typeface="Times New Roman" panose="02020603050405020304" pitchFamily="18" charset="0"/>
              </a:rPr>
              <a:t>by converting soil test results into clear and useful suggestions.</a:t>
            </a:r>
          </a:p>
          <a:p>
            <a:pPr marL="355600" indent="-342900" algn="just">
              <a:lnSpc>
                <a:spcPct val="150000"/>
              </a:lnSpc>
              <a:spcBef>
                <a:spcPts val="1305"/>
              </a:spcBef>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To help farmers access simple, accurate guidance using a </a:t>
            </a:r>
            <a:r>
              <a:rPr lang="en-US" sz="2000" b="1" dirty="0">
                <a:latin typeface="Times New Roman" panose="02020603050405020304" pitchFamily="18" charset="0"/>
                <a:cs typeface="Times New Roman" panose="02020603050405020304" pitchFamily="18" charset="0"/>
              </a:rPr>
              <a:t>technology-based approach</a:t>
            </a:r>
            <a:r>
              <a:rPr lang="en-US" sz="2000" dirty="0">
                <a:latin typeface="Times New Roman" panose="02020603050405020304" pitchFamily="18" charset="0"/>
                <a:cs typeface="Times New Roman" panose="02020603050405020304" pitchFamily="18" charset="0"/>
              </a:rPr>
              <a:t>.</a:t>
            </a:r>
          </a:p>
        </p:txBody>
      </p:sp>
      <p:sp>
        <p:nvSpPr>
          <p:cNvPr id="10" name="object 10"/>
          <p:cNvSpPr txBox="1">
            <a:spLocks noGrp="1"/>
          </p:cNvSpPr>
          <p:nvPr>
            <p:ph type="title"/>
          </p:nvPr>
        </p:nvSpPr>
        <p:spPr>
          <a:xfrm>
            <a:off x="3626802" y="218928"/>
            <a:ext cx="4938395" cy="635000"/>
          </a:xfrm>
          <a:prstGeom prst="rect">
            <a:avLst/>
          </a:prstGeom>
        </p:spPr>
        <p:txBody>
          <a:bodyPr vert="horz" wrap="square" lIns="0" tIns="12065" rIns="0" bIns="0" rtlCol="0">
            <a:spAutoFit/>
          </a:bodyPr>
          <a:lstStyle/>
          <a:p>
            <a:pPr marL="12700">
              <a:lnSpc>
                <a:spcPct val="100000"/>
              </a:lnSpc>
              <a:spcBef>
                <a:spcPts val="95"/>
              </a:spcBef>
            </a:pPr>
            <a:r>
              <a:rPr dirty="0"/>
              <a:t>A</a:t>
            </a:r>
            <a:r>
              <a:rPr lang="en-US" dirty="0"/>
              <a:t>im</a:t>
            </a:r>
            <a:r>
              <a:rPr spc="-100" dirty="0"/>
              <a:t> </a:t>
            </a:r>
            <a:r>
              <a:rPr dirty="0"/>
              <a:t>&amp;</a:t>
            </a:r>
            <a:r>
              <a:rPr spc="-85" dirty="0"/>
              <a:t> </a:t>
            </a:r>
            <a:r>
              <a:rPr spc="-10" dirty="0"/>
              <a:t>O</a:t>
            </a:r>
            <a:r>
              <a:rPr lang="en-US" spc="-10" dirty="0"/>
              <a:t>bjectives</a:t>
            </a:r>
            <a:endParaRPr spc="-1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978E66F-9A83-75A1-5DC0-319F9452D17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E44B38C-1142-C328-1083-B957F82D2EF2}"/>
              </a:ext>
            </a:extLst>
          </p:cNvPr>
          <p:cNvSpPr txBox="1">
            <a:spLocks noGrp="1"/>
          </p:cNvSpPr>
          <p:nvPr>
            <p:ph type="title"/>
          </p:nvPr>
        </p:nvSpPr>
        <p:spPr>
          <a:xfrm>
            <a:off x="4354193" y="73514"/>
            <a:ext cx="3483610" cy="635000"/>
          </a:xfrm>
          <a:prstGeom prst="rect">
            <a:avLst/>
          </a:prstGeom>
        </p:spPr>
        <p:txBody>
          <a:bodyPr vert="horz" wrap="square" lIns="0" tIns="12065" rIns="0" bIns="0" rtlCol="0">
            <a:spAutoFit/>
          </a:bodyPr>
          <a:lstStyle/>
          <a:p>
            <a:pPr marL="12700">
              <a:lnSpc>
                <a:spcPct val="100000"/>
              </a:lnSpc>
              <a:spcBef>
                <a:spcPts val="95"/>
              </a:spcBef>
            </a:pPr>
            <a:r>
              <a:rPr lang="en-US" spc="-10" dirty="0"/>
              <a:t>System Design</a:t>
            </a:r>
            <a:endParaRPr spc="-10" dirty="0"/>
          </a:p>
        </p:txBody>
      </p:sp>
      <p:sp>
        <p:nvSpPr>
          <p:cNvPr id="99" name="TextBox 98">
            <a:extLst>
              <a:ext uri="{FF2B5EF4-FFF2-40B4-BE49-F238E27FC236}">
                <a16:creationId xmlns:a16="http://schemas.microsoft.com/office/drawing/2014/main" id="{F51F9EFB-9C5A-A344-4EB3-64F08B6904AB}"/>
              </a:ext>
            </a:extLst>
          </p:cNvPr>
          <p:cNvSpPr txBox="1"/>
          <p:nvPr/>
        </p:nvSpPr>
        <p:spPr>
          <a:xfrm>
            <a:off x="2819400" y="6200498"/>
            <a:ext cx="8244565"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Block-diagram for Crop recommendation and fertilizer prediction system</a:t>
            </a:r>
            <a:endParaRPr lang="en-IN" sz="2000" b="1"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0BE355C1-E655-5722-BB2A-EE6004936DD7}"/>
              </a:ext>
            </a:extLst>
          </p:cNvPr>
          <p:cNvSpPr/>
          <p:nvPr/>
        </p:nvSpPr>
        <p:spPr>
          <a:xfrm>
            <a:off x="1304920" y="1247016"/>
            <a:ext cx="3648079" cy="6858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User Register/Login</a:t>
            </a:r>
            <a:endParaRPr lang="en-IN" sz="2000" dirty="0">
              <a:solidFill>
                <a:schemeClr val="tx1"/>
              </a:solidFill>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1BF73272-25B5-8756-AAB1-45117A443E8F}"/>
              </a:ext>
            </a:extLst>
          </p:cNvPr>
          <p:cNvSpPr/>
          <p:nvPr/>
        </p:nvSpPr>
        <p:spPr>
          <a:xfrm>
            <a:off x="6019799" y="1295400"/>
            <a:ext cx="2209800" cy="6858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latin typeface="Times New Roman" panose="02020603050405020304" pitchFamily="18" charset="0"/>
                <a:cs typeface="Times New Roman" panose="02020603050405020304" pitchFamily="18" charset="0"/>
              </a:rPr>
              <a:t>Dashboard </a:t>
            </a:r>
            <a:endParaRPr lang="en-IN" sz="2000" dirty="0">
              <a:latin typeface="Times New Roman" panose="02020603050405020304" pitchFamily="18" charset="0"/>
              <a:cs typeface="Times New Roman" panose="02020603050405020304" pitchFamily="18" charset="0"/>
            </a:endParaRPr>
          </a:p>
        </p:txBody>
      </p:sp>
      <p:cxnSp>
        <p:nvCxnSpPr>
          <p:cNvPr id="13" name="Straight Arrow Connector 12">
            <a:extLst>
              <a:ext uri="{FF2B5EF4-FFF2-40B4-BE49-F238E27FC236}">
                <a16:creationId xmlns:a16="http://schemas.microsoft.com/office/drawing/2014/main" id="{69A8F009-FC65-7D87-09B3-FDCBBE0A1CD1}"/>
              </a:ext>
            </a:extLst>
          </p:cNvPr>
          <p:cNvCxnSpPr>
            <a:cxnSpLocks/>
            <a:stCxn id="6" idx="3"/>
            <a:endCxn id="8" idx="1"/>
          </p:cNvCxnSpPr>
          <p:nvPr/>
        </p:nvCxnSpPr>
        <p:spPr>
          <a:xfrm>
            <a:off x="4952999" y="1589916"/>
            <a:ext cx="1066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ADD62FD5-1E7F-4699-0883-09CDFEC526B1}"/>
              </a:ext>
            </a:extLst>
          </p:cNvPr>
          <p:cNvSpPr/>
          <p:nvPr/>
        </p:nvSpPr>
        <p:spPr>
          <a:xfrm>
            <a:off x="9067800" y="1279537"/>
            <a:ext cx="2666998" cy="98607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l"/>
            <a:r>
              <a:rPr lang="en-IN" sz="2000" dirty="0">
                <a:solidFill>
                  <a:schemeClr val="tx1"/>
                </a:solidFill>
                <a:latin typeface="Times New Roman" panose="02020603050405020304" pitchFamily="18" charset="0"/>
                <a:cs typeface="Times New Roman" panose="02020603050405020304" pitchFamily="18" charset="0"/>
              </a:rPr>
              <a:t>Input Page (N, P, K, pH, Temp, Humidity, Rainfall)</a:t>
            </a:r>
          </a:p>
        </p:txBody>
      </p:sp>
      <p:cxnSp>
        <p:nvCxnSpPr>
          <p:cNvPr id="50" name="Straight Arrow Connector 49">
            <a:extLst>
              <a:ext uri="{FF2B5EF4-FFF2-40B4-BE49-F238E27FC236}">
                <a16:creationId xmlns:a16="http://schemas.microsoft.com/office/drawing/2014/main" id="{A302B8C9-7D96-7075-2616-628A4A7A88D9}"/>
              </a:ext>
            </a:extLst>
          </p:cNvPr>
          <p:cNvCxnSpPr>
            <a:cxnSpLocks/>
            <a:stCxn id="8" idx="3"/>
          </p:cNvCxnSpPr>
          <p:nvPr/>
        </p:nvCxnSpPr>
        <p:spPr>
          <a:xfrm>
            <a:off x="8229599" y="1638300"/>
            <a:ext cx="83820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9CB6EC3D-7D6C-C0AB-233E-7568B2046D61}"/>
              </a:ext>
            </a:extLst>
          </p:cNvPr>
          <p:cNvSpPr/>
          <p:nvPr/>
        </p:nvSpPr>
        <p:spPr>
          <a:xfrm>
            <a:off x="9067800" y="3578467"/>
            <a:ext cx="2666998" cy="98607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l"/>
            <a:r>
              <a:rPr lang="en-IN" sz="2000" dirty="0">
                <a:solidFill>
                  <a:schemeClr val="tx1"/>
                </a:solidFill>
                <a:latin typeface="Times New Roman" panose="02020603050405020304" pitchFamily="18" charset="0"/>
                <a:cs typeface="Times New Roman" panose="02020603050405020304" pitchFamily="18" charset="0"/>
              </a:rPr>
              <a:t>Flask Backend Receives Input Loads ML Models</a:t>
            </a:r>
          </a:p>
        </p:txBody>
      </p:sp>
      <p:cxnSp>
        <p:nvCxnSpPr>
          <p:cNvPr id="62" name="Straight Arrow Connector 61">
            <a:extLst>
              <a:ext uri="{FF2B5EF4-FFF2-40B4-BE49-F238E27FC236}">
                <a16:creationId xmlns:a16="http://schemas.microsoft.com/office/drawing/2014/main" id="{5CFB512C-B64C-506B-0E84-2BD3DA26A3A3}"/>
              </a:ext>
            </a:extLst>
          </p:cNvPr>
          <p:cNvCxnSpPr>
            <a:cxnSpLocks/>
            <a:stCxn id="29" idx="2"/>
            <a:endCxn id="59" idx="0"/>
          </p:cNvCxnSpPr>
          <p:nvPr/>
        </p:nvCxnSpPr>
        <p:spPr>
          <a:xfrm>
            <a:off x="10401299" y="2265613"/>
            <a:ext cx="0" cy="13128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6" name="Rectangle 65">
            <a:extLst>
              <a:ext uri="{FF2B5EF4-FFF2-40B4-BE49-F238E27FC236}">
                <a16:creationId xmlns:a16="http://schemas.microsoft.com/office/drawing/2014/main" id="{984E7C0F-AC1C-A124-75D0-D97307E9CED8}"/>
              </a:ext>
            </a:extLst>
          </p:cNvPr>
          <p:cNvSpPr/>
          <p:nvPr/>
        </p:nvSpPr>
        <p:spPr>
          <a:xfrm>
            <a:off x="5562601" y="2504811"/>
            <a:ext cx="2438398" cy="84505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l"/>
            <a:endParaRPr lang="en-US" dirty="0"/>
          </a:p>
          <a:p>
            <a:pPr algn="l"/>
            <a:r>
              <a:rPr lang="en-US" sz="2000" dirty="0">
                <a:latin typeface="Times New Roman" panose="02020603050405020304" pitchFamily="18" charset="0"/>
                <a:cs typeface="Times New Roman" panose="02020603050405020304" pitchFamily="18" charset="0"/>
              </a:rPr>
              <a:t>Crop Prediction ML (Random Forest) </a:t>
            </a:r>
          </a:p>
          <a:p>
            <a:pPr algn="ctr"/>
            <a:endParaRPr lang="en-IN" dirty="0"/>
          </a:p>
        </p:txBody>
      </p:sp>
      <p:sp>
        <p:nvSpPr>
          <p:cNvPr id="68" name="Rectangle 67">
            <a:extLst>
              <a:ext uri="{FF2B5EF4-FFF2-40B4-BE49-F238E27FC236}">
                <a16:creationId xmlns:a16="http://schemas.microsoft.com/office/drawing/2014/main" id="{C711EF55-38EE-5EA5-D380-C3D4582A4C2E}"/>
              </a:ext>
            </a:extLst>
          </p:cNvPr>
          <p:cNvSpPr/>
          <p:nvPr/>
        </p:nvSpPr>
        <p:spPr>
          <a:xfrm>
            <a:off x="5562598" y="4564543"/>
            <a:ext cx="2438398" cy="84505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l"/>
            <a:endParaRPr lang="en-US" dirty="0"/>
          </a:p>
          <a:p>
            <a:pPr algn="l"/>
            <a:r>
              <a:rPr lang="en-US" sz="2000" dirty="0">
                <a:latin typeface="Times New Roman" panose="02020603050405020304" pitchFamily="18" charset="0"/>
                <a:cs typeface="Times New Roman" panose="02020603050405020304" pitchFamily="18" charset="0"/>
              </a:rPr>
              <a:t>Fertilizer Recommendation ML (Random Forest) </a:t>
            </a:r>
          </a:p>
          <a:p>
            <a:pPr algn="ctr"/>
            <a:endParaRPr lang="en-IN" dirty="0"/>
          </a:p>
        </p:txBody>
      </p:sp>
      <p:cxnSp>
        <p:nvCxnSpPr>
          <p:cNvPr id="72" name="Straight Connector 71">
            <a:extLst>
              <a:ext uri="{FF2B5EF4-FFF2-40B4-BE49-F238E27FC236}">
                <a16:creationId xmlns:a16="http://schemas.microsoft.com/office/drawing/2014/main" id="{64B1620B-6516-FC35-9AA4-E0824D2682FA}"/>
              </a:ext>
            </a:extLst>
          </p:cNvPr>
          <p:cNvCxnSpPr>
            <a:cxnSpLocks/>
          </p:cNvCxnSpPr>
          <p:nvPr/>
        </p:nvCxnSpPr>
        <p:spPr>
          <a:xfrm flipH="1" flipV="1">
            <a:off x="8610600" y="4070574"/>
            <a:ext cx="457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81479ACC-C79B-D032-9B50-2C2389322003}"/>
              </a:ext>
            </a:extLst>
          </p:cNvPr>
          <p:cNvCxnSpPr>
            <a:cxnSpLocks/>
          </p:cNvCxnSpPr>
          <p:nvPr/>
        </p:nvCxnSpPr>
        <p:spPr>
          <a:xfrm>
            <a:off x="8610600" y="2847711"/>
            <a:ext cx="0" cy="2141792"/>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BC2B3ACE-942F-7BDC-DCB2-FD04D55309FE}"/>
              </a:ext>
            </a:extLst>
          </p:cNvPr>
          <p:cNvCxnSpPr>
            <a:cxnSpLocks/>
            <a:endCxn id="66" idx="3"/>
          </p:cNvCxnSpPr>
          <p:nvPr/>
        </p:nvCxnSpPr>
        <p:spPr>
          <a:xfrm flipH="1">
            <a:off x="8000999" y="2847711"/>
            <a:ext cx="60960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6F4FA3D0-5F7D-1AD4-F09E-CC671463D7A3}"/>
              </a:ext>
            </a:extLst>
          </p:cNvPr>
          <p:cNvCxnSpPr>
            <a:cxnSpLocks/>
            <a:endCxn id="68" idx="3"/>
          </p:cNvCxnSpPr>
          <p:nvPr/>
        </p:nvCxnSpPr>
        <p:spPr>
          <a:xfrm flipH="1" flipV="1">
            <a:off x="8000996" y="4987069"/>
            <a:ext cx="609604" cy="2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54B15650-21F6-9B95-EE6D-1D959E635528}"/>
              </a:ext>
            </a:extLst>
          </p:cNvPr>
          <p:cNvCxnSpPr>
            <a:cxnSpLocks/>
            <a:stCxn id="66" idx="1"/>
          </p:cNvCxnSpPr>
          <p:nvPr/>
        </p:nvCxnSpPr>
        <p:spPr>
          <a:xfrm flipH="1" flipV="1">
            <a:off x="3829047" y="2922040"/>
            <a:ext cx="1733554" cy="52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4D6FC707-C1BD-A0F2-1B94-C52F1D13DB02}"/>
              </a:ext>
            </a:extLst>
          </p:cNvPr>
          <p:cNvCxnSpPr>
            <a:cxnSpLocks/>
            <a:stCxn id="68" idx="1"/>
          </p:cNvCxnSpPr>
          <p:nvPr/>
        </p:nvCxnSpPr>
        <p:spPr>
          <a:xfrm flipH="1">
            <a:off x="3829047" y="4987069"/>
            <a:ext cx="1733551" cy="2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0" name="Rectangle 99">
            <a:extLst>
              <a:ext uri="{FF2B5EF4-FFF2-40B4-BE49-F238E27FC236}">
                <a16:creationId xmlns:a16="http://schemas.microsoft.com/office/drawing/2014/main" id="{3D5FF957-2DB4-C782-DDDB-24FADAC5EE58}"/>
              </a:ext>
            </a:extLst>
          </p:cNvPr>
          <p:cNvSpPr/>
          <p:nvPr/>
        </p:nvSpPr>
        <p:spPr>
          <a:xfrm>
            <a:off x="990598" y="2359140"/>
            <a:ext cx="2838446" cy="342286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latin typeface="Times New Roman" panose="02020603050405020304" pitchFamily="18" charset="0"/>
                <a:cs typeface="Times New Roman" panose="02020603050405020304" pitchFamily="18" charset="0"/>
              </a:rPr>
              <a:t>Output Page </a:t>
            </a:r>
            <a:endParaRPr lang="en-IN" sz="2000" dirty="0">
              <a:latin typeface="Times New Roman" panose="02020603050405020304" pitchFamily="18" charset="0"/>
              <a:cs typeface="Times New Roman" panose="02020603050405020304" pitchFamily="18" charset="0"/>
            </a:endParaRPr>
          </a:p>
        </p:txBody>
      </p:sp>
      <p:cxnSp>
        <p:nvCxnSpPr>
          <p:cNvPr id="102" name="Straight Connector 101">
            <a:extLst>
              <a:ext uri="{FF2B5EF4-FFF2-40B4-BE49-F238E27FC236}">
                <a16:creationId xmlns:a16="http://schemas.microsoft.com/office/drawing/2014/main" id="{3A678152-6623-07A1-7F6B-80FDE442095A}"/>
              </a:ext>
            </a:extLst>
          </p:cNvPr>
          <p:cNvCxnSpPr>
            <a:cxnSpLocks/>
          </p:cNvCxnSpPr>
          <p:nvPr/>
        </p:nvCxnSpPr>
        <p:spPr>
          <a:xfrm>
            <a:off x="990601" y="3200400"/>
            <a:ext cx="2838448" cy="0"/>
          </a:xfrm>
          <a:prstGeom prst="line">
            <a:avLst/>
          </a:prstGeom>
        </p:spPr>
        <p:style>
          <a:lnRef idx="1">
            <a:schemeClr val="dk1"/>
          </a:lnRef>
          <a:fillRef idx="0">
            <a:schemeClr val="dk1"/>
          </a:fillRef>
          <a:effectRef idx="0">
            <a:schemeClr val="dk1"/>
          </a:effectRef>
          <a:fontRef idx="minor">
            <a:schemeClr val="tx1"/>
          </a:fontRef>
        </p:style>
      </p:cxnSp>
      <p:cxnSp>
        <p:nvCxnSpPr>
          <p:cNvPr id="104" name="Straight Connector 103">
            <a:extLst>
              <a:ext uri="{FF2B5EF4-FFF2-40B4-BE49-F238E27FC236}">
                <a16:creationId xmlns:a16="http://schemas.microsoft.com/office/drawing/2014/main" id="{97C226D5-BB53-A786-88C0-9E1D09C38133}"/>
              </a:ext>
            </a:extLst>
          </p:cNvPr>
          <p:cNvCxnSpPr>
            <a:cxnSpLocks/>
          </p:cNvCxnSpPr>
          <p:nvPr/>
        </p:nvCxnSpPr>
        <p:spPr>
          <a:xfrm>
            <a:off x="990599" y="4876800"/>
            <a:ext cx="2838448" cy="0"/>
          </a:xfrm>
          <a:prstGeom prst="line">
            <a:avLst/>
          </a:prstGeom>
        </p:spPr>
        <p:style>
          <a:lnRef idx="1">
            <a:schemeClr val="dk1"/>
          </a:lnRef>
          <a:fillRef idx="0">
            <a:schemeClr val="dk1"/>
          </a:fillRef>
          <a:effectRef idx="0">
            <a:schemeClr val="dk1"/>
          </a:effectRef>
          <a:fontRef idx="minor">
            <a:schemeClr val="tx1"/>
          </a:fontRef>
        </p:style>
      </p:cxnSp>
      <p:sp>
        <p:nvSpPr>
          <p:cNvPr id="105" name="TextBox 104">
            <a:extLst>
              <a:ext uri="{FF2B5EF4-FFF2-40B4-BE49-F238E27FC236}">
                <a16:creationId xmlns:a16="http://schemas.microsoft.com/office/drawing/2014/main" id="{0F173CC2-A54C-7C76-1A39-2889FF359E6E}"/>
              </a:ext>
            </a:extLst>
          </p:cNvPr>
          <p:cNvSpPr txBox="1"/>
          <p:nvPr/>
        </p:nvSpPr>
        <p:spPr>
          <a:xfrm>
            <a:off x="1436069" y="2584974"/>
            <a:ext cx="2148345" cy="400110"/>
          </a:xfrm>
          <a:prstGeom prst="rect">
            <a:avLst/>
          </a:prstGeom>
          <a:noFill/>
        </p:spPr>
        <p:txBody>
          <a:bodyPr wrap="none" rtlCol="0">
            <a:spAutoFit/>
          </a:bodyPr>
          <a:lstStyle/>
          <a:p>
            <a:r>
              <a:rPr lang="en-US" sz="2000" b="1" dirty="0">
                <a:solidFill>
                  <a:schemeClr val="tx1"/>
                </a:solidFill>
                <a:latin typeface="Times New Roman" panose="02020603050405020304" pitchFamily="18" charset="0"/>
                <a:cs typeface="Times New Roman" panose="02020603050405020304" pitchFamily="18" charset="0"/>
              </a:rPr>
              <a:t>Predicts best crop</a:t>
            </a:r>
            <a:endParaRPr lang="en-IN" sz="2000" b="1" dirty="0">
              <a:solidFill>
                <a:schemeClr val="tx1"/>
              </a:solidFill>
              <a:latin typeface="Times New Roman" panose="02020603050405020304" pitchFamily="18" charset="0"/>
              <a:cs typeface="Times New Roman" panose="02020603050405020304" pitchFamily="18" charset="0"/>
            </a:endParaRPr>
          </a:p>
        </p:txBody>
      </p:sp>
      <p:sp>
        <p:nvSpPr>
          <p:cNvPr id="106" name="TextBox 105">
            <a:extLst>
              <a:ext uri="{FF2B5EF4-FFF2-40B4-BE49-F238E27FC236}">
                <a16:creationId xmlns:a16="http://schemas.microsoft.com/office/drawing/2014/main" id="{B0366B48-48CD-7382-0E9C-6193B52A01AA}"/>
              </a:ext>
            </a:extLst>
          </p:cNvPr>
          <p:cNvSpPr txBox="1"/>
          <p:nvPr/>
        </p:nvSpPr>
        <p:spPr>
          <a:xfrm>
            <a:off x="1090795" y="5105235"/>
            <a:ext cx="2738250" cy="400110"/>
          </a:xfrm>
          <a:prstGeom prst="rect">
            <a:avLst/>
          </a:prstGeom>
          <a:noFill/>
        </p:spPr>
        <p:txBody>
          <a:bodyPr wrap="none" rtlCol="0">
            <a:spAutoFit/>
          </a:bodyPr>
          <a:lstStyle/>
          <a:p>
            <a:r>
              <a:rPr lang="en-US" sz="2000" b="1" dirty="0">
                <a:solidFill>
                  <a:schemeClr val="tx1"/>
                </a:solidFill>
                <a:latin typeface="Times New Roman" panose="02020603050405020304" pitchFamily="18" charset="0"/>
                <a:cs typeface="Times New Roman" panose="02020603050405020304" pitchFamily="18" charset="0"/>
              </a:rPr>
              <a:t>Recommends Fertilizer</a:t>
            </a:r>
            <a:endParaRPr lang="en-IN" sz="2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79889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B1AFDF0-C620-C0FD-D05B-136D99F5901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5BFA48D-0A51-CB04-63AA-8C924881534F}"/>
              </a:ext>
            </a:extLst>
          </p:cNvPr>
          <p:cNvSpPr txBox="1">
            <a:spLocks noGrp="1"/>
          </p:cNvSpPr>
          <p:nvPr>
            <p:ph type="title"/>
          </p:nvPr>
        </p:nvSpPr>
        <p:spPr>
          <a:xfrm>
            <a:off x="4342765" y="81989"/>
            <a:ext cx="3506470" cy="696595"/>
          </a:xfrm>
          <a:prstGeom prst="rect">
            <a:avLst/>
          </a:prstGeom>
        </p:spPr>
        <p:txBody>
          <a:bodyPr vert="horz" wrap="square" lIns="0" tIns="13335" rIns="0" bIns="0" rtlCol="0">
            <a:spAutoFit/>
          </a:bodyPr>
          <a:lstStyle/>
          <a:p>
            <a:pPr marL="12700">
              <a:lnSpc>
                <a:spcPct val="100000"/>
              </a:lnSpc>
              <a:spcBef>
                <a:spcPts val="105"/>
              </a:spcBef>
            </a:pPr>
            <a:r>
              <a:rPr sz="4400" spc="-10" dirty="0"/>
              <a:t>Methodologies</a:t>
            </a:r>
            <a:endParaRPr sz="4400" dirty="0"/>
          </a:p>
        </p:txBody>
      </p:sp>
      <p:graphicFrame>
        <p:nvGraphicFramePr>
          <p:cNvPr id="3" name="Table 2">
            <a:extLst>
              <a:ext uri="{FF2B5EF4-FFF2-40B4-BE49-F238E27FC236}">
                <a16:creationId xmlns:a16="http://schemas.microsoft.com/office/drawing/2014/main" id="{F81C8FB1-176D-2B7C-3BAC-0FAAA530F2C8}"/>
              </a:ext>
            </a:extLst>
          </p:cNvPr>
          <p:cNvGraphicFramePr>
            <a:graphicFrameLocks noGrp="1"/>
          </p:cNvGraphicFramePr>
          <p:nvPr>
            <p:extLst>
              <p:ext uri="{D42A27DB-BD31-4B8C-83A1-F6EECF244321}">
                <p14:modId xmlns:p14="http://schemas.microsoft.com/office/powerpoint/2010/main" val="2707713532"/>
              </p:ext>
            </p:extLst>
          </p:nvPr>
        </p:nvGraphicFramePr>
        <p:xfrm>
          <a:off x="1066800" y="838200"/>
          <a:ext cx="10058400" cy="5669280"/>
        </p:xfrm>
        <a:graphic>
          <a:graphicData uri="http://schemas.openxmlformats.org/drawingml/2006/table">
            <a:tbl>
              <a:tblPr firstRow="1" bandRow="1">
                <a:tableStyleId>{5C22544A-7EE6-4342-B048-85BDC9FD1C3A}</a:tableStyleId>
              </a:tblPr>
              <a:tblGrid>
                <a:gridCol w="5029200">
                  <a:extLst>
                    <a:ext uri="{9D8B030D-6E8A-4147-A177-3AD203B41FA5}">
                      <a16:colId xmlns:a16="http://schemas.microsoft.com/office/drawing/2014/main" val="883284159"/>
                    </a:ext>
                  </a:extLst>
                </a:gridCol>
                <a:gridCol w="5029200">
                  <a:extLst>
                    <a:ext uri="{9D8B030D-6E8A-4147-A177-3AD203B41FA5}">
                      <a16:colId xmlns:a16="http://schemas.microsoft.com/office/drawing/2014/main" val="3879824426"/>
                    </a:ext>
                  </a:extLst>
                </a:gridCol>
              </a:tblGrid>
              <a:tr h="1651000">
                <a:tc>
                  <a:txBody>
                    <a:bodyPr/>
                    <a:lstStyle/>
                    <a:p>
                      <a:pPr>
                        <a:lnSpc>
                          <a:spcPct val="150000"/>
                        </a:lnSpc>
                      </a:pPr>
                      <a:r>
                        <a:rPr lang="en-US" sz="2000" b="1" dirty="0">
                          <a:solidFill>
                            <a:schemeClr val="tx1"/>
                          </a:solidFill>
                          <a:latin typeface="Times New Roman" panose="02020603050405020304" pitchFamily="18" charset="0"/>
                          <a:cs typeface="Times New Roman" panose="02020603050405020304" pitchFamily="18" charset="0"/>
                        </a:rPr>
                        <a:t>1. Data Collection </a:t>
                      </a:r>
                    </a:p>
                    <a:p>
                      <a:pPr marL="342900" indent="-342900">
                        <a:lnSpc>
                          <a:spcPct val="150000"/>
                        </a:lnSpc>
                        <a:buFont typeface="Wingdings" panose="05000000000000000000" pitchFamily="2" charset="2"/>
                        <a:buChar char="§"/>
                      </a:pPr>
                      <a:r>
                        <a:rPr lang="en-US" sz="2000" b="0" dirty="0">
                          <a:solidFill>
                            <a:schemeClr val="tx1"/>
                          </a:solidFill>
                          <a:latin typeface="Times New Roman" panose="02020603050405020304" pitchFamily="18" charset="0"/>
                          <a:cs typeface="Times New Roman" panose="02020603050405020304" pitchFamily="18" charset="0"/>
                        </a:rPr>
                        <a:t>Collect crop dataset from Kaggle</a:t>
                      </a:r>
                    </a:p>
                    <a:p>
                      <a:pPr marL="342900" indent="-342900">
                        <a:lnSpc>
                          <a:spcPct val="150000"/>
                        </a:lnSpc>
                        <a:buFont typeface="Wingdings" panose="05000000000000000000" pitchFamily="2" charset="2"/>
                        <a:buChar char="§"/>
                      </a:pPr>
                      <a:r>
                        <a:rPr lang="en-US" sz="2000" b="0" dirty="0">
                          <a:solidFill>
                            <a:schemeClr val="tx1"/>
                          </a:solidFill>
                          <a:latin typeface="Times New Roman" panose="02020603050405020304" pitchFamily="18" charset="0"/>
                          <a:cs typeface="Times New Roman" panose="02020603050405020304" pitchFamily="18" charset="0"/>
                        </a:rPr>
                        <a:t>Collect fertilizer dataset with nutrient info</a:t>
                      </a:r>
                    </a:p>
                    <a:p>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nSpc>
                          <a:spcPct val="150000"/>
                        </a:lnSpc>
                      </a:pPr>
                      <a:r>
                        <a:rPr lang="en-US" sz="2000" b="1" dirty="0">
                          <a:solidFill>
                            <a:schemeClr val="tx1"/>
                          </a:solidFill>
                          <a:latin typeface="Times New Roman" panose="02020603050405020304" pitchFamily="18" charset="0"/>
                          <a:cs typeface="Times New Roman" panose="02020603050405020304" pitchFamily="18" charset="0"/>
                        </a:rPr>
                        <a:t>2. Data Preprocessing </a:t>
                      </a:r>
                    </a:p>
                    <a:p>
                      <a:pPr marL="342900" indent="-342900">
                        <a:lnSpc>
                          <a:spcPct val="150000"/>
                        </a:lnSpc>
                        <a:buFont typeface="Wingdings" panose="05000000000000000000" pitchFamily="2" charset="2"/>
                        <a:buChar char="§"/>
                      </a:pPr>
                      <a:r>
                        <a:rPr lang="en-US" sz="2000" b="0" dirty="0">
                          <a:solidFill>
                            <a:schemeClr val="tx1"/>
                          </a:solidFill>
                          <a:latin typeface="Times New Roman" panose="02020603050405020304" pitchFamily="18" charset="0"/>
                          <a:cs typeface="Times New Roman" panose="02020603050405020304" pitchFamily="18" charset="0"/>
                        </a:rPr>
                        <a:t>Clean the data and remove errors</a:t>
                      </a:r>
                    </a:p>
                    <a:p>
                      <a:pPr marL="342900" indent="-342900">
                        <a:lnSpc>
                          <a:spcPct val="150000"/>
                        </a:lnSpc>
                        <a:buFont typeface="Wingdings" panose="05000000000000000000" pitchFamily="2" charset="2"/>
                        <a:buChar char="§"/>
                      </a:pPr>
                      <a:r>
                        <a:rPr lang="en-US" sz="2000" b="0" dirty="0">
                          <a:solidFill>
                            <a:schemeClr val="tx1"/>
                          </a:solidFill>
                          <a:latin typeface="Times New Roman" panose="02020603050405020304" pitchFamily="18" charset="0"/>
                          <a:cs typeface="Times New Roman" panose="02020603050405020304" pitchFamily="18" charset="0"/>
                        </a:rPr>
                        <a:t>Organize and prepare it for ML training</a:t>
                      </a:r>
                    </a:p>
                    <a:p>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93517928"/>
                  </a:ext>
                </a:extLst>
              </a:tr>
              <a:tr h="1651000">
                <a:tc>
                  <a:txBody>
                    <a:bodyPr/>
                    <a:lstStyle/>
                    <a:p>
                      <a:pPr>
                        <a:lnSpc>
                          <a:spcPct val="150000"/>
                        </a:lnSpc>
                      </a:pPr>
                      <a:r>
                        <a:rPr lang="en-US" sz="2000" b="1" dirty="0">
                          <a:latin typeface="Times New Roman" panose="02020603050405020304" pitchFamily="18" charset="0"/>
                          <a:cs typeface="Times New Roman" panose="02020603050405020304" pitchFamily="18" charset="0"/>
                        </a:rPr>
                        <a:t>3. Model Training (using Random Forest)</a:t>
                      </a:r>
                    </a:p>
                    <a:p>
                      <a:pPr>
                        <a:lnSpc>
                          <a:spcPct val="150000"/>
                        </a:lnSpc>
                      </a:pPr>
                      <a:r>
                        <a:rPr lang="en-US" sz="2000" dirty="0">
                          <a:latin typeface="Times New Roman" panose="02020603050405020304" pitchFamily="18" charset="0"/>
                          <a:cs typeface="Times New Roman" panose="02020603050405020304" pitchFamily="18" charset="0"/>
                        </a:rPr>
                        <a:t>Train the crop prediction model u</a:t>
                      </a:r>
                    </a:p>
                    <a:p>
                      <a:pPr>
                        <a:lnSpc>
                          <a:spcPct val="150000"/>
                        </a:lnSpc>
                      </a:pPr>
                      <a:r>
                        <a:rPr lang="en-US" sz="2000" dirty="0">
                          <a:latin typeface="Times New Roman" panose="02020603050405020304" pitchFamily="18" charset="0"/>
                          <a:cs typeface="Times New Roman" panose="02020603050405020304" pitchFamily="18" charset="0"/>
                        </a:rPr>
                        <a:t>Train the fertilizer recommendation model</a:t>
                      </a:r>
                    </a:p>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50000"/>
                        </a:lnSpc>
                      </a:pPr>
                      <a:r>
                        <a:rPr lang="en-US" sz="2000" b="1" dirty="0">
                          <a:latin typeface="Times New Roman" panose="02020603050405020304" pitchFamily="18" charset="0"/>
                          <a:cs typeface="Times New Roman" panose="02020603050405020304" pitchFamily="18" charset="0"/>
                        </a:rPr>
                        <a:t>4. Web Application Development </a:t>
                      </a:r>
                    </a:p>
                    <a:p>
                      <a:pPr marL="342900" indent="-342900">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Create a simple user interface for inputs</a:t>
                      </a:r>
                    </a:p>
                    <a:p>
                      <a:pPr marL="342900" indent="-342900">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Connect the interface to the Flask backend</a:t>
                      </a:r>
                    </a:p>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607103049"/>
                  </a:ext>
                </a:extLst>
              </a:tr>
              <a:tr h="1651000">
                <a:tc>
                  <a:txBody>
                    <a:bodyPr/>
                    <a:lstStyle/>
                    <a:p>
                      <a:pPr>
                        <a:lnSpc>
                          <a:spcPct val="150000"/>
                        </a:lnSpc>
                      </a:pPr>
                      <a:r>
                        <a:rPr lang="en-US" sz="2000" b="1" dirty="0">
                          <a:latin typeface="Times New Roman" panose="02020603050405020304" pitchFamily="18" charset="0"/>
                          <a:cs typeface="Times New Roman" panose="02020603050405020304" pitchFamily="18" charset="0"/>
                        </a:rPr>
                        <a:t>5. Prediction &amp; Output </a:t>
                      </a:r>
                    </a:p>
                    <a:p>
                      <a:pPr marL="342900" indent="-342900">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Take soil and weather inputs from users</a:t>
                      </a:r>
                    </a:p>
                    <a:p>
                      <a:pPr marL="342900" indent="-342900">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Generate suitable crop and fertilizer results</a:t>
                      </a:r>
                    </a:p>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nSpc>
                          <a:spcPct val="150000"/>
                        </a:lnSpc>
                      </a:pPr>
                      <a:r>
                        <a:rPr lang="en-US" sz="2000" b="1" dirty="0">
                          <a:latin typeface="Times New Roman" panose="02020603050405020304" pitchFamily="18" charset="0"/>
                          <a:cs typeface="Times New Roman" panose="02020603050405020304" pitchFamily="18" charset="0"/>
                        </a:rPr>
                        <a:t>6. Evaluation </a:t>
                      </a:r>
                    </a:p>
                    <a:p>
                      <a:pPr marL="342900" indent="-342900">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Check model accuracy using test data</a:t>
                      </a:r>
                    </a:p>
                    <a:p>
                      <a:pPr marL="342900" indent="-342900">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Verify predictions with agricultural references</a:t>
                      </a:r>
                    </a:p>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30231145"/>
                  </a:ext>
                </a:extLst>
              </a:tr>
            </a:tbl>
          </a:graphicData>
        </a:graphic>
      </p:graphicFrame>
    </p:spTree>
    <p:extLst>
      <p:ext uri="{BB962C8B-B14F-4D97-AF65-F5344CB8AC3E}">
        <p14:creationId xmlns:p14="http://schemas.microsoft.com/office/powerpoint/2010/main" val="6421055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10902" y="150308"/>
            <a:ext cx="5370195" cy="696595"/>
          </a:xfrm>
          <a:prstGeom prst="rect">
            <a:avLst/>
          </a:prstGeom>
        </p:spPr>
        <p:txBody>
          <a:bodyPr vert="horz" wrap="square" lIns="0" tIns="13335" rIns="0" bIns="0" rtlCol="0">
            <a:spAutoFit/>
          </a:bodyPr>
          <a:lstStyle/>
          <a:p>
            <a:pPr marL="12700">
              <a:lnSpc>
                <a:spcPct val="100000"/>
              </a:lnSpc>
              <a:spcBef>
                <a:spcPts val="105"/>
              </a:spcBef>
            </a:pPr>
            <a:r>
              <a:rPr sz="4400" dirty="0"/>
              <a:t>Results</a:t>
            </a:r>
            <a:r>
              <a:rPr sz="4400" spc="-40" dirty="0"/>
              <a:t> </a:t>
            </a:r>
            <a:r>
              <a:rPr sz="4400" dirty="0"/>
              <a:t>and</a:t>
            </a:r>
            <a:r>
              <a:rPr sz="4400" spc="-10" dirty="0"/>
              <a:t> Snapshots</a:t>
            </a:r>
            <a:endParaRPr sz="4400" dirty="0"/>
          </a:p>
        </p:txBody>
      </p:sp>
      <p:pic>
        <p:nvPicPr>
          <p:cNvPr id="12" name="Picture 11">
            <a:extLst>
              <a:ext uri="{FF2B5EF4-FFF2-40B4-BE49-F238E27FC236}">
                <a16:creationId xmlns:a16="http://schemas.microsoft.com/office/drawing/2014/main" id="{0E0CD33E-8273-D1F5-CEB4-B7255CDAA26C}"/>
              </a:ext>
            </a:extLst>
          </p:cNvPr>
          <p:cNvPicPr>
            <a:picLocks noChangeAspect="1"/>
          </p:cNvPicPr>
          <p:nvPr/>
        </p:nvPicPr>
        <p:blipFill>
          <a:blip r:embed="rId2"/>
          <a:stretch>
            <a:fillRect/>
          </a:stretch>
        </p:blipFill>
        <p:spPr>
          <a:xfrm>
            <a:off x="381000" y="1061641"/>
            <a:ext cx="4777155" cy="2127131"/>
          </a:xfrm>
          <a:prstGeom prst="rect">
            <a:avLst/>
          </a:prstGeom>
          <a:ln>
            <a:noFill/>
          </a:ln>
          <a:effectLst>
            <a:outerShdw blurRad="292100" dist="139700" dir="2700000" algn="tl" rotWithShape="0">
              <a:srgbClr val="333333">
                <a:alpha val="65000"/>
              </a:srgbClr>
            </a:outerShdw>
          </a:effectLst>
        </p:spPr>
      </p:pic>
      <p:pic>
        <p:nvPicPr>
          <p:cNvPr id="14" name="Picture 13">
            <a:extLst>
              <a:ext uri="{FF2B5EF4-FFF2-40B4-BE49-F238E27FC236}">
                <a16:creationId xmlns:a16="http://schemas.microsoft.com/office/drawing/2014/main" id="{EBE0D74D-D026-974F-8F25-FE1743851933}"/>
              </a:ext>
            </a:extLst>
          </p:cNvPr>
          <p:cNvPicPr>
            <a:picLocks noChangeAspect="1"/>
          </p:cNvPicPr>
          <p:nvPr/>
        </p:nvPicPr>
        <p:blipFill>
          <a:blip r:embed="rId3"/>
          <a:stretch>
            <a:fillRect/>
          </a:stretch>
        </p:blipFill>
        <p:spPr>
          <a:xfrm>
            <a:off x="381000" y="3699300"/>
            <a:ext cx="4777154" cy="2472900"/>
          </a:xfrm>
          <a:prstGeom prst="rect">
            <a:avLst/>
          </a:prstGeom>
          <a:ln>
            <a:noFill/>
          </a:ln>
          <a:effectLst>
            <a:outerShdw blurRad="292100" dist="139700" dir="2700000" algn="tl" rotWithShape="0">
              <a:srgbClr val="333333">
                <a:alpha val="65000"/>
              </a:srgbClr>
            </a:outerShdw>
          </a:effectLst>
        </p:spPr>
      </p:pic>
      <p:sp>
        <p:nvSpPr>
          <p:cNvPr id="4" name="TextBox 3">
            <a:extLst>
              <a:ext uri="{FF2B5EF4-FFF2-40B4-BE49-F238E27FC236}">
                <a16:creationId xmlns:a16="http://schemas.microsoft.com/office/drawing/2014/main" id="{91C8BE06-9CC2-A400-791E-40F84E65E913}"/>
              </a:ext>
            </a:extLst>
          </p:cNvPr>
          <p:cNvSpPr txBox="1"/>
          <p:nvPr/>
        </p:nvSpPr>
        <p:spPr>
          <a:xfrm>
            <a:off x="1830858" y="3188773"/>
            <a:ext cx="1877437"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Figure1 user login</a:t>
            </a:r>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856C0FE-C831-ACAB-EA00-F7F93DC5CA3D}"/>
              </a:ext>
            </a:extLst>
          </p:cNvPr>
          <p:cNvSpPr txBox="1"/>
          <p:nvPr/>
        </p:nvSpPr>
        <p:spPr>
          <a:xfrm>
            <a:off x="1500639" y="6195741"/>
            <a:ext cx="2537874"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Figure2. creating account</a:t>
            </a:r>
            <a:endParaRPr lang="en-IN"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DBE2F435-CAAD-FB65-6BF7-11B2CDAF19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34000" y="1061641"/>
            <a:ext cx="6477000" cy="5110559"/>
          </a:xfrm>
          <a:prstGeom prst="rect">
            <a:avLst/>
          </a:prstGeom>
          <a:ln>
            <a:noFill/>
          </a:ln>
          <a:effectLst>
            <a:outerShdw blurRad="292100" dist="139700" dir="2700000" algn="tl" rotWithShape="0">
              <a:srgbClr val="333333">
                <a:alpha val="65000"/>
              </a:srgbClr>
            </a:outerShdw>
          </a:effectLst>
        </p:spPr>
      </p:pic>
      <p:sp>
        <p:nvSpPr>
          <p:cNvPr id="13" name="TextBox 12">
            <a:extLst>
              <a:ext uri="{FF2B5EF4-FFF2-40B4-BE49-F238E27FC236}">
                <a16:creationId xmlns:a16="http://schemas.microsoft.com/office/drawing/2014/main" id="{C3D0A54C-3BB3-3A7A-A2ED-1DFE4BA59D10}"/>
              </a:ext>
            </a:extLst>
          </p:cNvPr>
          <p:cNvSpPr txBox="1"/>
          <p:nvPr/>
        </p:nvSpPr>
        <p:spPr>
          <a:xfrm>
            <a:off x="7563249" y="6195741"/>
            <a:ext cx="2018501"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Figure3. Dashboard</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C53834D-1F7D-2845-1CB2-1D6D34F52F8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343E891-B967-E46D-7E80-496AC187C8BE}"/>
              </a:ext>
            </a:extLst>
          </p:cNvPr>
          <p:cNvSpPr txBox="1">
            <a:spLocks noGrp="1"/>
          </p:cNvSpPr>
          <p:nvPr>
            <p:ph type="title"/>
          </p:nvPr>
        </p:nvSpPr>
        <p:spPr>
          <a:xfrm>
            <a:off x="3410902" y="150308"/>
            <a:ext cx="5370195" cy="696595"/>
          </a:xfrm>
          <a:prstGeom prst="rect">
            <a:avLst/>
          </a:prstGeom>
        </p:spPr>
        <p:txBody>
          <a:bodyPr vert="horz" wrap="square" lIns="0" tIns="13335" rIns="0" bIns="0" rtlCol="0">
            <a:spAutoFit/>
          </a:bodyPr>
          <a:lstStyle/>
          <a:p>
            <a:pPr marL="12700">
              <a:lnSpc>
                <a:spcPct val="100000"/>
              </a:lnSpc>
              <a:spcBef>
                <a:spcPts val="105"/>
              </a:spcBef>
            </a:pPr>
            <a:r>
              <a:rPr sz="4400" dirty="0"/>
              <a:t>Results</a:t>
            </a:r>
            <a:r>
              <a:rPr sz="4400" spc="-40" dirty="0"/>
              <a:t> </a:t>
            </a:r>
            <a:r>
              <a:rPr sz="4400" dirty="0"/>
              <a:t>and</a:t>
            </a:r>
            <a:r>
              <a:rPr sz="4400" spc="-10" dirty="0"/>
              <a:t> Snapshots</a:t>
            </a:r>
            <a:endParaRPr sz="4400" dirty="0"/>
          </a:p>
        </p:txBody>
      </p:sp>
      <p:pic>
        <p:nvPicPr>
          <p:cNvPr id="6" name="Picture 5">
            <a:extLst>
              <a:ext uri="{FF2B5EF4-FFF2-40B4-BE49-F238E27FC236}">
                <a16:creationId xmlns:a16="http://schemas.microsoft.com/office/drawing/2014/main" id="{12D8F94D-5EC2-11CD-A2EF-28E77B318F83}"/>
              </a:ext>
            </a:extLst>
          </p:cNvPr>
          <p:cNvPicPr>
            <a:picLocks noChangeAspect="1"/>
          </p:cNvPicPr>
          <p:nvPr/>
        </p:nvPicPr>
        <p:blipFill>
          <a:blip r:embed="rId2"/>
          <a:stretch>
            <a:fillRect/>
          </a:stretch>
        </p:blipFill>
        <p:spPr>
          <a:xfrm>
            <a:off x="6629400" y="1025725"/>
            <a:ext cx="4800600" cy="5142880"/>
          </a:xfrm>
          <a:prstGeom prst="rect">
            <a:avLst/>
          </a:prstGeom>
        </p:spPr>
      </p:pic>
      <p:pic>
        <p:nvPicPr>
          <p:cNvPr id="10" name="Picture 9">
            <a:extLst>
              <a:ext uri="{FF2B5EF4-FFF2-40B4-BE49-F238E27FC236}">
                <a16:creationId xmlns:a16="http://schemas.microsoft.com/office/drawing/2014/main" id="{B44B0A8F-B6EF-79F1-0C12-3D6133F1A730}"/>
              </a:ext>
            </a:extLst>
          </p:cNvPr>
          <p:cNvPicPr>
            <a:picLocks noChangeAspect="1"/>
          </p:cNvPicPr>
          <p:nvPr/>
        </p:nvPicPr>
        <p:blipFill>
          <a:blip r:embed="rId3"/>
          <a:stretch>
            <a:fillRect/>
          </a:stretch>
        </p:blipFill>
        <p:spPr>
          <a:xfrm>
            <a:off x="457200" y="1025725"/>
            <a:ext cx="4800600" cy="5142880"/>
          </a:xfrm>
          <a:prstGeom prst="rect">
            <a:avLst/>
          </a:prstGeom>
        </p:spPr>
      </p:pic>
      <p:sp>
        <p:nvSpPr>
          <p:cNvPr id="5" name="TextBox 4">
            <a:extLst>
              <a:ext uri="{FF2B5EF4-FFF2-40B4-BE49-F238E27FC236}">
                <a16:creationId xmlns:a16="http://schemas.microsoft.com/office/drawing/2014/main" id="{1A2C238F-6221-A025-7007-4FC85B51590C}"/>
              </a:ext>
            </a:extLst>
          </p:cNvPr>
          <p:cNvSpPr txBox="1"/>
          <p:nvPr/>
        </p:nvSpPr>
        <p:spPr>
          <a:xfrm>
            <a:off x="1394089" y="6253614"/>
            <a:ext cx="2775119"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Figure4. User Input page  </a:t>
            </a:r>
            <a:endParaRPr lang="en-IN"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07AF381D-CB26-A6A0-047C-5DA15209FBEA}"/>
              </a:ext>
            </a:extLst>
          </p:cNvPr>
          <p:cNvSpPr txBox="1"/>
          <p:nvPr/>
        </p:nvSpPr>
        <p:spPr>
          <a:xfrm>
            <a:off x="8153400" y="6253614"/>
            <a:ext cx="2307042"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Figure5. Output page</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63953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Application</a:t>
            </a:r>
            <a:r>
              <a:rPr spc="-90" dirty="0"/>
              <a:t> </a:t>
            </a:r>
            <a:r>
              <a:rPr dirty="0"/>
              <a:t>of</a:t>
            </a:r>
            <a:r>
              <a:rPr spc="-85" dirty="0"/>
              <a:t> </a:t>
            </a:r>
            <a:r>
              <a:rPr dirty="0"/>
              <a:t>the</a:t>
            </a:r>
            <a:r>
              <a:rPr spc="-100" dirty="0"/>
              <a:t> </a:t>
            </a:r>
            <a:r>
              <a:rPr spc="-10" dirty="0"/>
              <a:t>Project</a:t>
            </a:r>
          </a:p>
        </p:txBody>
      </p:sp>
      <p:sp>
        <p:nvSpPr>
          <p:cNvPr id="4" name="TextBox 3">
            <a:extLst>
              <a:ext uri="{FF2B5EF4-FFF2-40B4-BE49-F238E27FC236}">
                <a16:creationId xmlns:a16="http://schemas.microsoft.com/office/drawing/2014/main" id="{DDF03A5B-F410-4996-CF63-AD05CA3239FE}"/>
              </a:ext>
            </a:extLst>
          </p:cNvPr>
          <p:cNvSpPr txBox="1"/>
          <p:nvPr/>
        </p:nvSpPr>
        <p:spPr>
          <a:xfrm>
            <a:off x="467869" y="1219200"/>
            <a:ext cx="11125200" cy="4653646"/>
          </a:xfrm>
          <a:prstGeom prst="rect">
            <a:avLst/>
          </a:prstGeom>
          <a:noFill/>
        </p:spPr>
        <p:txBody>
          <a:bodyPr wrap="square" rtlCol="0">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1. Agriculture Sector: </a:t>
            </a:r>
          </a:p>
          <a:p>
            <a:pPr algn="just">
              <a:lnSpc>
                <a:spcPct val="150000"/>
              </a:lnSpc>
            </a:pPr>
            <a:r>
              <a:rPr lang="en-US" sz="2000" dirty="0">
                <a:latin typeface="Times New Roman" panose="02020603050405020304" pitchFamily="18" charset="0"/>
                <a:cs typeface="Times New Roman" panose="02020603050405020304" pitchFamily="18" charset="0"/>
              </a:rPr>
              <a:t>Can be used by farmers to get crop and fertilizer recommendations.</a:t>
            </a:r>
          </a:p>
          <a:p>
            <a:pPr algn="just">
              <a:lnSpc>
                <a:spcPct val="150000"/>
              </a:lnSpc>
            </a:pPr>
            <a:r>
              <a:rPr lang="en-US" sz="2000" b="1" dirty="0">
                <a:latin typeface="Times New Roman" panose="02020603050405020304" pitchFamily="18" charset="0"/>
                <a:cs typeface="Times New Roman" panose="02020603050405020304" pitchFamily="18" charset="0"/>
              </a:rPr>
              <a:t>2. Agricultural Research Institutes: </a:t>
            </a:r>
          </a:p>
          <a:p>
            <a:pPr algn="just">
              <a:lnSpc>
                <a:spcPct val="150000"/>
              </a:lnSpc>
            </a:pPr>
            <a:r>
              <a:rPr lang="en-US" sz="2000" dirty="0">
                <a:latin typeface="Times New Roman" panose="02020603050405020304" pitchFamily="18" charset="0"/>
                <a:cs typeface="Times New Roman" panose="02020603050405020304" pitchFamily="18" charset="0"/>
              </a:rPr>
              <a:t>Useful for soil analysis studies and crop suitability research.</a:t>
            </a:r>
          </a:p>
          <a:p>
            <a:pPr algn="just">
              <a:lnSpc>
                <a:spcPct val="150000"/>
              </a:lnSpc>
            </a:pPr>
            <a:r>
              <a:rPr lang="en-US" sz="2000" b="1" dirty="0">
                <a:latin typeface="Times New Roman" panose="02020603050405020304" pitchFamily="18" charset="0"/>
                <a:cs typeface="Times New Roman" panose="02020603050405020304" pitchFamily="18" charset="0"/>
              </a:rPr>
              <a:t>3. Soil testing Centers: </a:t>
            </a:r>
          </a:p>
          <a:p>
            <a:pPr algn="just">
              <a:lnSpc>
                <a:spcPct val="150000"/>
              </a:lnSpc>
            </a:pPr>
            <a:r>
              <a:rPr lang="en-US" sz="2000" b="1" dirty="0">
                <a:latin typeface="Times New Roman" panose="02020603050405020304" pitchFamily="18" charset="0"/>
                <a:cs typeface="Times New Roman" panose="02020603050405020304" pitchFamily="18" charset="0"/>
              </a:rPr>
              <a:t>C</a:t>
            </a:r>
            <a:r>
              <a:rPr lang="en-US" sz="2000" dirty="0">
                <a:latin typeface="Times New Roman" panose="02020603050405020304" pitchFamily="18" charset="0"/>
                <a:cs typeface="Times New Roman" panose="02020603050405020304" pitchFamily="18" charset="0"/>
              </a:rPr>
              <a:t>an help convert soil test reports directly into recommendations.</a:t>
            </a:r>
          </a:p>
          <a:p>
            <a:pPr algn="just">
              <a:lnSpc>
                <a:spcPct val="150000"/>
              </a:lnSpc>
            </a:pPr>
            <a:r>
              <a:rPr lang="en-US" sz="2000" b="1" dirty="0">
                <a:latin typeface="Times New Roman" panose="02020603050405020304" pitchFamily="18" charset="0"/>
                <a:cs typeface="Times New Roman" panose="02020603050405020304" pitchFamily="18" charset="0"/>
              </a:rPr>
              <a:t>4. Government Agricultural Departments: </a:t>
            </a:r>
          </a:p>
          <a:p>
            <a:pPr algn="just">
              <a:lnSpc>
                <a:spcPct val="150000"/>
              </a:lnSpc>
            </a:pPr>
            <a:r>
              <a:rPr lang="en-US" sz="2000" dirty="0">
                <a:latin typeface="Times New Roman" panose="02020603050405020304" pitchFamily="18" charset="0"/>
                <a:cs typeface="Times New Roman" panose="02020603050405020304" pitchFamily="18" charset="0"/>
              </a:rPr>
              <a:t>Can be integrated into schemes that support farmers with crop planning.</a:t>
            </a:r>
          </a:p>
          <a:p>
            <a:pPr algn="just">
              <a:lnSpc>
                <a:spcPct val="150000"/>
              </a:lnSpc>
            </a:pPr>
            <a:r>
              <a:rPr lang="en-US" sz="2000" b="1" dirty="0">
                <a:latin typeface="Times New Roman" panose="02020603050405020304" pitchFamily="18" charset="0"/>
                <a:cs typeface="Times New Roman" panose="02020603050405020304" pitchFamily="18" charset="0"/>
              </a:rPr>
              <a:t>5. Educational Use:</a:t>
            </a:r>
          </a:p>
          <a:p>
            <a:pPr algn="just">
              <a:lnSpc>
                <a:spcPct val="150000"/>
              </a:lnSpc>
            </a:pPr>
            <a:r>
              <a:rPr lang="en-US" sz="2000" dirty="0">
                <a:latin typeface="Times New Roman" panose="02020603050405020304" pitchFamily="18" charset="0"/>
                <a:cs typeface="Times New Roman" panose="02020603050405020304" pitchFamily="18" charset="0"/>
              </a:rPr>
              <a:t>Students &amp; researchers can use it to study ML applications in farming.</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44161" y="316433"/>
            <a:ext cx="3463290" cy="635000"/>
          </a:xfrm>
          <a:prstGeom prst="rect">
            <a:avLst/>
          </a:prstGeom>
        </p:spPr>
        <p:txBody>
          <a:bodyPr vert="horz" wrap="square" lIns="0" tIns="12065" rIns="0" bIns="0" rtlCol="0">
            <a:spAutoFit/>
          </a:bodyPr>
          <a:lstStyle/>
          <a:p>
            <a:pPr marL="12700">
              <a:lnSpc>
                <a:spcPct val="100000"/>
              </a:lnSpc>
              <a:spcBef>
                <a:spcPts val="95"/>
              </a:spcBef>
            </a:pPr>
            <a:r>
              <a:rPr spc="-10" dirty="0"/>
              <a:t>C</a:t>
            </a:r>
            <a:r>
              <a:rPr lang="en-US" spc="-10" dirty="0"/>
              <a:t>onclusion</a:t>
            </a:r>
            <a:endParaRPr spc="-10" dirty="0"/>
          </a:p>
        </p:txBody>
      </p:sp>
      <p:sp>
        <p:nvSpPr>
          <p:cNvPr id="3" name="object 3"/>
          <p:cNvSpPr txBox="1"/>
          <p:nvPr/>
        </p:nvSpPr>
        <p:spPr>
          <a:xfrm>
            <a:off x="381000" y="1347115"/>
            <a:ext cx="11215370" cy="4163769"/>
          </a:xfrm>
          <a:prstGeom prst="rect">
            <a:avLst/>
          </a:prstGeom>
        </p:spPr>
        <p:txBody>
          <a:bodyPr vert="horz" wrap="square" lIns="0" tIns="12700" rIns="0" bIns="0" rtlCol="0">
            <a:spAutoFit/>
          </a:bodyPr>
          <a:lstStyle/>
          <a:p>
            <a:pPr marL="469265" marR="5080" indent="-457200" algn="just">
              <a:lnSpc>
                <a:spcPct val="150000"/>
              </a:lnSpc>
              <a:spcBef>
                <a:spcPts val="100"/>
              </a:spcBef>
              <a:buSzPct val="80000"/>
              <a:buFont typeface="Wingdings"/>
              <a:buChar char=""/>
              <a:tabLst>
                <a:tab pos="469265" algn="l"/>
              </a:tabLst>
            </a:pPr>
            <a:r>
              <a:rPr lang="en-US" sz="2000" dirty="0">
                <a:latin typeface="Times New Roman" panose="02020603050405020304" pitchFamily="18" charset="0"/>
                <a:cs typeface="Times New Roman" panose="02020603050405020304" pitchFamily="18" charset="0"/>
              </a:rPr>
              <a:t>The Crop Recommendation and Fertilizer Prediction System provides a simple and effective way to assist farmers in making data-based agricultural decisions. By using soil nutrients and weather values as inputs, the system predicts the most suitable crop and recommends the fertilizer that matches the soil’s nutrient requirement. </a:t>
            </a:r>
          </a:p>
          <a:p>
            <a:pPr marL="469265" marR="5080" indent="-457200" algn="just">
              <a:lnSpc>
                <a:spcPct val="150000"/>
              </a:lnSpc>
              <a:spcBef>
                <a:spcPts val="100"/>
              </a:spcBef>
              <a:buSzPct val="80000"/>
              <a:buFont typeface="Wingdings"/>
              <a:buChar char=""/>
              <a:tabLst>
                <a:tab pos="469265" algn="l"/>
              </a:tabLst>
            </a:pPr>
            <a:r>
              <a:rPr lang="en-US" sz="2000" dirty="0">
                <a:latin typeface="Times New Roman" panose="02020603050405020304" pitchFamily="18" charset="0"/>
                <a:cs typeface="Times New Roman" panose="02020603050405020304" pitchFamily="18" charset="0"/>
              </a:rPr>
              <a:t>The use of machine-learning models helps convert raw soil test data into meaningful guidance through an easy-to-use web interface.</a:t>
            </a:r>
          </a:p>
          <a:p>
            <a:pPr marL="469265" marR="5080" indent="-457200" algn="just">
              <a:lnSpc>
                <a:spcPct val="150000"/>
              </a:lnSpc>
              <a:spcBef>
                <a:spcPts val="100"/>
              </a:spcBef>
              <a:buSzPct val="80000"/>
              <a:buFont typeface="Wingdings"/>
              <a:buChar char=""/>
              <a:tabLst>
                <a:tab pos="469265" algn="l"/>
              </a:tabLst>
            </a:pPr>
            <a:r>
              <a:rPr lang="en-US" sz="2000" dirty="0">
                <a:latin typeface="Times New Roman" panose="02020603050405020304" pitchFamily="18" charset="0"/>
                <a:cs typeface="Times New Roman" panose="02020603050405020304" pitchFamily="18" charset="0"/>
              </a:rPr>
              <a:t> This project demonstrates how technology can support better decision-making in agriculture and make scientific recommendations more accessible to farmers.</a:t>
            </a:r>
          </a:p>
          <a:p>
            <a:pPr marL="469265" marR="5080" indent="-457200" algn="just">
              <a:lnSpc>
                <a:spcPct val="150000"/>
              </a:lnSpc>
              <a:spcBef>
                <a:spcPts val="100"/>
              </a:spcBef>
              <a:buSzPct val="80000"/>
              <a:buFont typeface="Wingdings"/>
              <a:buChar char=""/>
              <a:tabLst>
                <a:tab pos="469265" algn="l"/>
              </a:tabLst>
            </a:pPr>
            <a:endParaRPr sz="2000" dirty="0">
              <a:latin typeface="Times New Roman"/>
              <a:cs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73ECECE-A659-EC5D-825E-6A3BF5BF907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240308E-34D7-BCDA-9C33-91FE6979CB6C}"/>
              </a:ext>
            </a:extLst>
          </p:cNvPr>
          <p:cNvSpPr txBox="1">
            <a:spLocks noGrp="1"/>
          </p:cNvSpPr>
          <p:nvPr>
            <p:ph type="title"/>
          </p:nvPr>
        </p:nvSpPr>
        <p:spPr>
          <a:xfrm>
            <a:off x="3281934" y="309117"/>
            <a:ext cx="6395466" cy="674544"/>
          </a:xfrm>
          <a:prstGeom prst="rect">
            <a:avLst/>
          </a:prstGeom>
        </p:spPr>
        <p:txBody>
          <a:bodyPr vert="horz" wrap="square" lIns="0" tIns="58420" rIns="0" bIns="0" rtlCol="0">
            <a:spAutoFit/>
          </a:bodyPr>
          <a:lstStyle/>
          <a:p>
            <a:pPr marL="299720">
              <a:lnSpc>
                <a:spcPct val="100000"/>
              </a:lnSpc>
              <a:spcBef>
                <a:spcPts val="100"/>
              </a:spcBef>
            </a:pPr>
            <a:r>
              <a:rPr dirty="0"/>
              <a:t>Future</a:t>
            </a:r>
            <a:r>
              <a:rPr spc="-30" dirty="0"/>
              <a:t> </a:t>
            </a:r>
            <a:r>
              <a:rPr dirty="0"/>
              <a:t>Scope</a:t>
            </a:r>
            <a:r>
              <a:rPr spc="-30" dirty="0"/>
              <a:t> </a:t>
            </a:r>
            <a:r>
              <a:rPr dirty="0"/>
              <a:t>of</a:t>
            </a:r>
            <a:r>
              <a:rPr spc="-15" dirty="0"/>
              <a:t> </a:t>
            </a:r>
            <a:r>
              <a:rPr dirty="0"/>
              <a:t>the</a:t>
            </a:r>
            <a:r>
              <a:rPr spc="-25" dirty="0"/>
              <a:t> </a:t>
            </a:r>
            <a:r>
              <a:rPr spc="-20" dirty="0"/>
              <a:t>work</a:t>
            </a:r>
            <a:endParaRPr dirty="0"/>
          </a:p>
        </p:txBody>
      </p:sp>
      <p:sp>
        <p:nvSpPr>
          <p:cNvPr id="4" name="TextBox 3">
            <a:extLst>
              <a:ext uri="{FF2B5EF4-FFF2-40B4-BE49-F238E27FC236}">
                <a16:creationId xmlns:a16="http://schemas.microsoft.com/office/drawing/2014/main" id="{B71D8E1F-C875-FB50-2FD9-B338F82CF7A2}"/>
              </a:ext>
            </a:extLst>
          </p:cNvPr>
          <p:cNvSpPr txBox="1"/>
          <p:nvPr/>
        </p:nvSpPr>
        <p:spPr>
          <a:xfrm>
            <a:off x="533400" y="1219200"/>
            <a:ext cx="10820400" cy="5115311"/>
          </a:xfrm>
          <a:prstGeom prst="rect">
            <a:avLst/>
          </a:prstGeom>
          <a:noFill/>
        </p:spPr>
        <p:txBody>
          <a:bodyPr wrap="square" rtlCol="0">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Future Work:</a:t>
            </a:r>
          </a:p>
          <a:p>
            <a:pPr algn="just">
              <a:lnSpc>
                <a:spcPct val="150000"/>
              </a:lnSpc>
            </a:pPr>
            <a:r>
              <a:rPr lang="en-US" sz="2000" dirty="0">
                <a:latin typeface="Times New Roman" panose="02020603050405020304" pitchFamily="18" charset="0"/>
                <a:cs typeface="Times New Roman" panose="02020603050405020304" pitchFamily="18" charset="0"/>
              </a:rPr>
              <a:t>1. </a:t>
            </a:r>
            <a:r>
              <a:rPr lang="en-US" sz="2000" b="1" dirty="0">
                <a:latin typeface="Times New Roman" panose="02020603050405020304" pitchFamily="18" charset="0"/>
                <a:cs typeface="Times New Roman" panose="02020603050405020304" pitchFamily="18" charset="0"/>
              </a:rPr>
              <a:t>Integration With IoT: </a:t>
            </a:r>
            <a:r>
              <a:rPr lang="en-US" sz="2000" dirty="0">
                <a:latin typeface="Times New Roman" panose="02020603050405020304" pitchFamily="18" charset="0"/>
                <a:cs typeface="Times New Roman" panose="02020603050405020304" pitchFamily="18" charset="0"/>
              </a:rPr>
              <a:t>Use real-time sensors for automated data collection.</a:t>
            </a:r>
          </a:p>
          <a:p>
            <a:pPr algn="just">
              <a:lnSpc>
                <a:spcPct val="150000"/>
              </a:lnSpc>
            </a:pPr>
            <a:r>
              <a:rPr lang="en-US" sz="2000" dirty="0">
                <a:latin typeface="Times New Roman" panose="02020603050405020304" pitchFamily="18" charset="0"/>
                <a:cs typeface="Times New Roman" panose="02020603050405020304" pitchFamily="18" charset="0"/>
              </a:rPr>
              <a:t>2</a:t>
            </a:r>
            <a:r>
              <a:rPr lang="en-US" sz="2000" b="1" dirty="0">
                <a:latin typeface="Times New Roman" panose="02020603050405020304" pitchFamily="18" charset="0"/>
                <a:cs typeface="Times New Roman" panose="02020603050405020304" pitchFamily="18" charset="0"/>
              </a:rPr>
              <a:t>. Mobile App Development: </a:t>
            </a:r>
            <a:r>
              <a:rPr lang="en-US" sz="2000" dirty="0">
                <a:latin typeface="Times New Roman" panose="02020603050405020304" pitchFamily="18" charset="0"/>
                <a:cs typeface="Times New Roman" panose="02020603050405020304" pitchFamily="18" charset="0"/>
              </a:rPr>
              <a:t>Create a mobile-friendly interface for easier access by farmers including features like an Agriculture-scientist community, and image-based analysis for detecting &amp; nutrient deficiencies.</a:t>
            </a:r>
          </a:p>
          <a:p>
            <a:pPr algn="just">
              <a:lnSpc>
                <a:spcPct val="150000"/>
              </a:lnSpc>
            </a:pPr>
            <a:r>
              <a:rPr lang="en-US" sz="2000" dirty="0">
                <a:latin typeface="Times New Roman" panose="02020603050405020304" pitchFamily="18" charset="0"/>
                <a:cs typeface="Times New Roman" panose="02020603050405020304" pitchFamily="18" charset="0"/>
              </a:rPr>
              <a:t>3. </a:t>
            </a:r>
            <a:r>
              <a:rPr lang="en-US" sz="2000" b="1" dirty="0">
                <a:latin typeface="Times New Roman" panose="02020603050405020304" pitchFamily="18" charset="0"/>
                <a:cs typeface="Times New Roman" panose="02020603050405020304" pitchFamily="18" charset="0"/>
              </a:rPr>
              <a:t>Addition Of More Datasets: </a:t>
            </a:r>
            <a:r>
              <a:rPr lang="en-US" sz="2000" dirty="0">
                <a:latin typeface="Times New Roman" panose="02020603050405020304" pitchFamily="18" charset="0"/>
                <a:cs typeface="Times New Roman" panose="02020603050405020304" pitchFamily="18" charset="0"/>
              </a:rPr>
              <a:t>Including more regional/government datasets can improve the accuracy and diversity of crop suggestions.</a:t>
            </a:r>
          </a:p>
          <a:p>
            <a:pPr algn="just">
              <a:lnSpc>
                <a:spcPct val="150000"/>
              </a:lnSpc>
            </a:pPr>
            <a:r>
              <a:rPr lang="en-US" sz="2000" dirty="0">
                <a:latin typeface="Times New Roman" panose="02020603050405020304" pitchFamily="18" charset="0"/>
                <a:cs typeface="Times New Roman" panose="02020603050405020304" pitchFamily="18" charset="0"/>
              </a:rPr>
              <a:t>4</a:t>
            </a:r>
            <a:r>
              <a:rPr lang="en-US" sz="2000" b="1" dirty="0">
                <a:latin typeface="Times New Roman" panose="02020603050405020304" pitchFamily="18" charset="0"/>
                <a:cs typeface="Times New Roman" panose="02020603050405020304" pitchFamily="18" charset="0"/>
              </a:rPr>
              <a:t>. Localization: </a:t>
            </a:r>
            <a:r>
              <a:rPr lang="en-US" sz="2000" dirty="0">
                <a:latin typeface="Times New Roman" panose="02020603050405020304" pitchFamily="18" charset="0"/>
                <a:cs typeface="Times New Roman" panose="02020603050405020304" pitchFamily="18" charset="0"/>
              </a:rPr>
              <a:t>Adapt the system for region-specific crop and fertilizer recommendation.</a:t>
            </a:r>
          </a:p>
          <a:p>
            <a:pPr algn="just">
              <a:lnSpc>
                <a:spcPct val="150000"/>
              </a:lnSpc>
            </a:pPr>
            <a:r>
              <a:rPr lang="en-US" sz="2000" dirty="0">
                <a:latin typeface="Times New Roman" panose="02020603050405020304" pitchFamily="18" charset="0"/>
                <a:cs typeface="Times New Roman" panose="02020603050405020304" pitchFamily="18" charset="0"/>
              </a:rPr>
              <a:t>5</a:t>
            </a:r>
            <a:r>
              <a:rPr lang="en-US" sz="2000" b="1" dirty="0">
                <a:latin typeface="Times New Roman" panose="02020603050405020304" pitchFamily="18" charset="0"/>
                <a:cs typeface="Times New Roman" panose="02020603050405020304" pitchFamily="18" charset="0"/>
              </a:rPr>
              <a:t>. Cloud Deployment: </a:t>
            </a:r>
            <a:r>
              <a:rPr lang="en-US" sz="2000" dirty="0">
                <a:latin typeface="Times New Roman" panose="02020603050405020304" pitchFamily="18" charset="0"/>
                <a:cs typeface="Times New Roman" panose="02020603050405020304" pitchFamily="18" charset="0"/>
              </a:rPr>
              <a:t>Scale the system for  wider accessibility and faster processing. </a:t>
            </a:r>
          </a:p>
          <a:p>
            <a:pPr algn="just">
              <a:lnSpc>
                <a:spcPct val="150000"/>
              </a:lnSpc>
            </a:pPr>
            <a:r>
              <a:rPr lang="en-US" sz="2000" dirty="0">
                <a:latin typeface="Times New Roman" panose="02020603050405020304" pitchFamily="18" charset="0"/>
                <a:cs typeface="Times New Roman" panose="02020603050405020304" pitchFamily="18" charset="0"/>
              </a:rPr>
              <a:t>6. </a:t>
            </a:r>
            <a:r>
              <a:rPr lang="en-US" sz="2000" b="1" dirty="0">
                <a:latin typeface="Times New Roman" panose="02020603050405020304" pitchFamily="18" charset="0"/>
                <a:cs typeface="Times New Roman" panose="02020603050405020304" pitchFamily="18" charset="0"/>
              </a:rPr>
              <a:t>Fertilizer Quantity Estimation: </a:t>
            </a:r>
            <a:r>
              <a:rPr lang="en-US" sz="2000" dirty="0">
                <a:latin typeface="Times New Roman" panose="02020603050405020304" pitchFamily="18" charset="0"/>
                <a:cs typeface="Times New Roman" panose="02020603050405020304" pitchFamily="18" charset="0"/>
              </a:rPr>
              <a:t>Recommend the right amount of fertilizer at each farming stage for better yield.</a:t>
            </a:r>
          </a:p>
        </p:txBody>
      </p:sp>
    </p:spTree>
    <p:extLst>
      <p:ext uri="{BB962C8B-B14F-4D97-AF65-F5344CB8AC3E}">
        <p14:creationId xmlns:p14="http://schemas.microsoft.com/office/powerpoint/2010/main" val="26506319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0B1D9DE-C61C-AB39-31B0-5ED1045A638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C5296E0-26C7-1624-285F-7115463869D4}"/>
              </a:ext>
            </a:extLst>
          </p:cNvPr>
          <p:cNvSpPr txBox="1">
            <a:spLocks noGrp="1"/>
          </p:cNvSpPr>
          <p:nvPr>
            <p:ph type="title"/>
          </p:nvPr>
        </p:nvSpPr>
        <p:spPr>
          <a:prstGeom prst="rect">
            <a:avLst/>
          </a:prstGeom>
        </p:spPr>
        <p:txBody>
          <a:bodyPr vert="horz" wrap="square" lIns="0" tIns="12065" rIns="0" bIns="0" rtlCol="0">
            <a:spAutoFit/>
          </a:bodyPr>
          <a:lstStyle/>
          <a:p>
            <a:pPr marL="1074420">
              <a:lnSpc>
                <a:spcPct val="100000"/>
              </a:lnSpc>
              <a:spcBef>
                <a:spcPts val="95"/>
              </a:spcBef>
            </a:pPr>
            <a:r>
              <a:rPr spc="-10" dirty="0"/>
              <a:t>R</a:t>
            </a:r>
            <a:r>
              <a:rPr lang="en-US" spc="-10" dirty="0"/>
              <a:t>eferences</a:t>
            </a:r>
            <a:endParaRPr spc="-10" dirty="0"/>
          </a:p>
        </p:txBody>
      </p:sp>
      <p:sp>
        <p:nvSpPr>
          <p:cNvPr id="5" name="Text Placeholder 4">
            <a:extLst>
              <a:ext uri="{FF2B5EF4-FFF2-40B4-BE49-F238E27FC236}">
                <a16:creationId xmlns:a16="http://schemas.microsoft.com/office/drawing/2014/main" id="{EC15722D-C299-0014-A12D-8CA69D32304E}"/>
              </a:ext>
            </a:extLst>
          </p:cNvPr>
          <p:cNvSpPr>
            <a:spLocks noGrp="1"/>
          </p:cNvSpPr>
          <p:nvPr>
            <p:ph type="body" idx="1"/>
          </p:nvPr>
        </p:nvSpPr>
        <p:spPr>
          <a:xfrm>
            <a:off x="533401" y="1287246"/>
            <a:ext cx="10744200" cy="5232202"/>
          </a:xfrm>
        </p:spPr>
        <p:txBody>
          <a:bodyPr/>
          <a:lstStyle/>
          <a:p>
            <a:pPr algn="just">
              <a:lnSpc>
                <a:spcPct val="150000"/>
              </a:lnSpc>
            </a:pPr>
            <a:r>
              <a:rPr lang="en-IN" dirty="0"/>
              <a:t>[1] Sharma</a:t>
            </a:r>
            <a:r>
              <a:rPr lang="en-IN" spc="-55" dirty="0"/>
              <a:t> </a:t>
            </a:r>
            <a:r>
              <a:rPr lang="en-IN" dirty="0"/>
              <a:t>et</a:t>
            </a:r>
            <a:r>
              <a:rPr lang="en-IN" spc="-40" dirty="0"/>
              <a:t> </a:t>
            </a:r>
            <a:r>
              <a:rPr lang="en-IN" dirty="0"/>
              <a:t>al.,</a:t>
            </a:r>
            <a:r>
              <a:rPr lang="en-IN" spc="-40" dirty="0"/>
              <a:t> </a:t>
            </a:r>
            <a:r>
              <a:rPr lang="en-IN" b="1" dirty="0"/>
              <a:t>“Machine</a:t>
            </a:r>
            <a:r>
              <a:rPr lang="en-IN" b="1" spc="-65" dirty="0"/>
              <a:t> </a:t>
            </a:r>
            <a:r>
              <a:rPr lang="en-IN" b="1" dirty="0"/>
              <a:t>Learning</a:t>
            </a:r>
            <a:r>
              <a:rPr lang="en-IN" b="1" spc="-125" dirty="0"/>
              <a:t> </a:t>
            </a:r>
            <a:r>
              <a:rPr lang="en-IN" b="1" spc="-10" dirty="0"/>
              <a:t>Techniques</a:t>
            </a:r>
            <a:r>
              <a:rPr lang="en-IN" b="1" spc="-105" dirty="0"/>
              <a:t> </a:t>
            </a:r>
            <a:r>
              <a:rPr lang="en-IN" b="1" dirty="0"/>
              <a:t>for</a:t>
            </a:r>
            <a:r>
              <a:rPr lang="en-IN" b="1" spc="-75" dirty="0"/>
              <a:t> </a:t>
            </a:r>
            <a:r>
              <a:rPr lang="en-IN" b="1" dirty="0"/>
              <a:t>Crop</a:t>
            </a:r>
            <a:r>
              <a:rPr lang="en-IN" b="1" spc="-50" dirty="0"/>
              <a:t> </a:t>
            </a:r>
            <a:r>
              <a:rPr lang="en-IN" b="1" dirty="0"/>
              <a:t>Recommendation,”</a:t>
            </a:r>
            <a:r>
              <a:rPr lang="en-IN" spc="-35" dirty="0"/>
              <a:t> </a:t>
            </a:r>
            <a:r>
              <a:rPr lang="en-IN" i="1" dirty="0"/>
              <a:t>IEEE</a:t>
            </a:r>
            <a:r>
              <a:rPr lang="en-IN" i="1" spc="-75" dirty="0"/>
              <a:t> </a:t>
            </a:r>
            <a:r>
              <a:rPr lang="en-IN" i="1" dirty="0"/>
              <a:t>Access</a:t>
            </a:r>
            <a:r>
              <a:rPr lang="en-IN" dirty="0"/>
              <a:t>,</a:t>
            </a:r>
            <a:r>
              <a:rPr lang="en-IN" spc="-70" dirty="0"/>
              <a:t> </a:t>
            </a:r>
            <a:r>
              <a:rPr lang="en-IN" spc="-10" dirty="0"/>
              <a:t>2022.</a:t>
            </a:r>
          </a:p>
          <a:p>
            <a:pPr algn="just">
              <a:lnSpc>
                <a:spcPct val="150000"/>
              </a:lnSpc>
            </a:pPr>
            <a:r>
              <a:rPr lang="en-US" dirty="0"/>
              <a:t>[2] Patel</a:t>
            </a:r>
            <a:r>
              <a:rPr lang="en-US" spc="-40" dirty="0"/>
              <a:t> </a:t>
            </a:r>
            <a:r>
              <a:rPr lang="en-US" dirty="0"/>
              <a:t>&amp;</a:t>
            </a:r>
            <a:r>
              <a:rPr lang="en-US" spc="-40" dirty="0"/>
              <a:t> </a:t>
            </a:r>
            <a:r>
              <a:rPr lang="en-US" dirty="0"/>
              <a:t>Singh,</a:t>
            </a:r>
            <a:r>
              <a:rPr lang="en-US" spc="-35" dirty="0"/>
              <a:t> </a:t>
            </a:r>
            <a:r>
              <a:rPr lang="en-US" b="1" dirty="0"/>
              <a:t>“AI</a:t>
            </a:r>
            <a:r>
              <a:rPr lang="en-US" b="1" spc="-20" dirty="0"/>
              <a:t> </a:t>
            </a:r>
            <a:r>
              <a:rPr lang="en-US" b="1" dirty="0"/>
              <a:t>in</a:t>
            </a:r>
            <a:r>
              <a:rPr lang="en-US" b="1" spc="-20" dirty="0"/>
              <a:t> Precision</a:t>
            </a:r>
            <a:r>
              <a:rPr lang="en-US" b="1" spc="-170" dirty="0"/>
              <a:t> </a:t>
            </a:r>
            <a:r>
              <a:rPr lang="en-US" b="1" dirty="0"/>
              <a:t>Agriculture:</a:t>
            </a:r>
            <a:r>
              <a:rPr lang="en-US" b="1" spc="-85" dirty="0"/>
              <a:t> </a:t>
            </a:r>
            <a:r>
              <a:rPr lang="en-US" b="1" dirty="0"/>
              <a:t>Fertilizer</a:t>
            </a:r>
            <a:r>
              <a:rPr lang="en-US" b="1" spc="-70" dirty="0"/>
              <a:t> </a:t>
            </a:r>
            <a:r>
              <a:rPr lang="en-US" b="1" dirty="0"/>
              <a:t>and</a:t>
            </a:r>
            <a:r>
              <a:rPr lang="en-US" b="1" spc="-15" dirty="0"/>
              <a:t> </a:t>
            </a:r>
            <a:r>
              <a:rPr lang="en-US" b="1" dirty="0"/>
              <a:t>Crop</a:t>
            </a:r>
            <a:r>
              <a:rPr lang="en-US" b="1" spc="-40" dirty="0"/>
              <a:t> </a:t>
            </a:r>
            <a:r>
              <a:rPr lang="en-US" b="1" dirty="0"/>
              <a:t>Prediction</a:t>
            </a:r>
            <a:r>
              <a:rPr lang="en-US" b="1" spc="-70" dirty="0"/>
              <a:t> </a:t>
            </a:r>
            <a:r>
              <a:rPr lang="en-US" b="1" dirty="0"/>
              <a:t>Models,”</a:t>
            </a:r>
            <a:r>
              <a:rPr lang="en-US" spc="-50" dirty="0"/>
              <a:t> </a:t>
            </a:r>
            <a:r>
              <a:rPr lang="en-US" i="1" dirty="0"/>
              <a:t>Elsevier</a:t>
            </a:r>
            <a:r>
              <a:rPr lang="en-US" dirty="0"/>
              <a:t>,</a:t>
            </a:r>
            <a:r>
              <a:rPr lang="en-US" spc="-40" dirty="0"/>
              <a:t> </a:t>
            </a:r>
            <a:r>
              <a:rPr lang="en-US" spc="-10" dirty="0"/>
              <a:t>2023.</a:t>
            </a:r>
          </a:p>
          <a:p>
            <a:pPr algn="just">
              <a:lnSpc>
                <a:spcPct val="150000"/>
              </a:lnSpc>
            </a:pPr>
            <a:r>
              <a:rPr lang="en-IN" dirty="0"/>
              <a:t>[3] Das, S., &amp; </a:t>
            </a:r>
            <a:r>
              <a:rPr lang="en-IN" dirty="0" err="1"/>
              <a:t>Solgi</a:t>
            </a:r>
            <a:r>
              <a:rPr lang="en-IN" dirty="0"/>
              <a:t>, H. (2023). </a:t>
            </a:r>
            <a:r>
              <a:rPr lang="en-IN" b="1" dirty="0"/>
              <a:t>“Crop Recommender System Using Machine Learning Approach,”</a:t>
            </a:r>
            <a:r>
              <a:rPr lang="en-IN" dirty="0"/>
              <a:t> IEEE COMSOC MMTC Communications – Frontiers.</a:t>
            </a:r>
          </a:p>
          <a:p>
            <a:pPr algn="just">
              <a:lnSpc>
                <a:spcPct val="150000"/>
              </a:lnSpc>
            </a:pPr>
            <a:r>
              <a:rPr lang="en-IN" dirty="0"/>
              <a:t>[4] Kumar,</a:t>
            </a:r>
            <a:r>
              <a:rPr lang="en-IN" spc="380" dirty="0"/>
              <a:t> </a:t>
            </a:r>
            <a:r>
              <a:rPr lang="en-IN" dirty="0"/>
              <a:t>M.,</a:t>
            </a:r>
            <a:r>
              <a:rPr lang="en-IN" spc="395" dirty="0"/>
              <a:t> </a:t>
            </a:r>
            <a:r>
              <a:rPr lang="en-IN" dirty="0"/>
              <a:t>&amp;</a:t>
            </a:r>
            <a:r>
              <a:rPr lang="en-IN" spc="390" dirty="0"/>
              <a:t> </a:t>
            </a:r>
            <a:r>
              <a:rPr lang="en-IN" dirty="0" err="1"/>
              <a:t>Bhadane</a:t>
            </a:r>
            <a:r>
              <a:rPr lang="en-IN" dirty="0"/>
              <a:t>,</a:t>
            </a:r>
            <a:r>
              <a:rPr lang="en-IN" spc="380" dirty="0"/>
              <a:t> </a:t>
            </a:r>
            <a:r>
              <a:rPr lang="en-IN" dirty="0"/>
              <a:t>S.</a:t>
            </a:r>
            <a:r>
              <a:rPr lang="en-IN" spc="395" dirty="0"/>
              <a:t> </a:t>
            </a:r>
            <a:r>
              <a:rPr lang="en-IN" dirty="0"/>
              <a:t>(2023).</a:t>
            </a:r>
            <a:r>
              <a:rPr lang="en-IN" spc="395" dirty="0"/>
              <a:t> </a:t>
            </a:r>
            <a:r>
              <a:rPr lang="en-IN" b="1" spc="-10" dirty="0"/>
              <a:t>“IoT-</a:t>
            </a:r>
            <a:r>
              <a:rPr lang="en-IN" b="1" dirty="0"/>
              <a:t>Enabled</a:t>
            </a:r>
            <a:r>
              <a:rPr lang="en-IN" b="1" spc="395" dirty="0"/>
              <a:t> </a:t>
            </a:r>
            <a:r>
              <a:rPr lang="en-IN" b="1" dirty="0"/>
              <a:t>Smart</a:t>
            </a:r>
            <a:r>
              <a:rPr lang="en-IN" b="1" spc="390" dirty="0"/>
              <a:t> </a:t>
            </a:r>
            <a:r>
              <a:rPr lang="en-IN" b="1" dirty="0"/>
              <a:t>Crop</a:t>
            </a:r>
            <a:r>
              <a:rPr lang="en-IN" b="1" spc="400" dirty="0"/>
              <a:t> </a:t>
            </a:r>
            <a:r>
              <a:rPr lang="en-IN" b="1" dirty="0"/>
              <a:t>Recommendation</a:t>
            </a:r>
            <a:r>
              <a:rPr lang="en-IN" b="1" spc="395" dirty="0"/>
              <a:t> </a:t>
            </a:r>
            <a:r>
              <a:rPr lang="en-IN" b="1" dirty="0"/>
              <a:t>System</a:t>
            </a:r>
            <a:r>
              <a:rPr lang="en-IN" b="1" spc="365" dirty="0"/>
              <a:t> </a:t>
            </a:r>
            <a:r>
              <a:rPr lang="en-IN" b="1" spc="-10" dirty="0"/>
              <a:t>Using </a:t>
            </a:r>
            <a:r>
              <a:rPr lang="en-IN" b="1" dirty="0"/>
              <a:t>Machine</a:t>
            </a:r>
            <a:r>
              <a:rPr lang="en-IN" b="1" spc="280" dirty="0"/>
              <a:t> </a:t>
            </a:r>
            <a:r>
              <a:rPr lang="en-IN" b="1" dirty="0"/>
              <a:t>Learning,”</a:t>
            </a:r>
            <a:r>
              <a:rPr lang="en-IN" b="1" spc="280" dirty="0"/>
              <a:t> </a:t>
            </a:r>
            <a:r>
              <a:rPr lang="en-IN" dirty="0"/>
              <a:t>IEEE</a:t>
            </a:r>
            <a:r>
              <a:rPr lang="en-IN" spc="270" dirty="0"/>
              <a:t> </a:t>
            </a:r>
            <a:r>
              <a:rPr lang="en-IN" dirty="0"/>
              <a:t>International</a:t>
            </a:r>
            <a:r>
              <a:rPr lang="en-IN" spc="270" dirty="0"/>
              <a:t> </a:t>
            </a:r>
            <a:r>
              <a:rPr lang="en-IN" dirty="0"/>
              <a:t>Conference</a:t>
            </a:r>
            <a:r>
              <a:rPr lang="en-IN" spc="280" dirty="0"/>
              <a:t> </a:t>
            </a:r>
            <a:r>
              <a:rPr lang="en-IN" dirty="0"/>
              <a:t>on</a:t>
            </a:r>
            <a:r>
              <a:rPr lang="en-IN" spc="275" dirty="0"/>
              <a:t> </a:t>
            </a:r>
            <a:r>
              <a:rPr lang="en-IN" dirty="0"/>
              <a:t>Emerging</a:t>
            </a:r>
            <a:r>
              <a:rPr lang="en-IN" spc="285" dirty="0"/>
              <a:t> </a:t>
            </a:r>
            <a:r>
              <a:rPr lang="en-IN" dirty="0"/>
              <a:t>Smart</a:t>
            </a:r>
            <a:r>
              <a:rPr lang="en-IN" spc="275" dirty="0"/>
              <a:t> </a:t>
            </a:r>
            <a:r>
              <a:rPr lang="en-IN" dirty="0"/>
              <a:t>Computing</a:t>
            </a:r>
            <a:r>
              <a:rPr lang="en-IN" spc="265" dirty="0"/>
              <a:t> </a:t>
            </a:r>
            <a:r>
              <a:rPr lang="en-IN" dirty="0"/>
              <a:t>and</a:t>
            </a:r>
            <a:r>
              <a:rPr lang="en-IN" spc="275" dirty="0"/>
              <a:t> </a:t>
            </a:r>
            <a:r>
              <a:rPr lang="en-IN" spc="-10" dirty="0"/>
              <a:t>Informatics (ESCI).</a:t>
            </a:r>
          </a:p>
          <a:p>
            <a:pPr algn="just">
              <a:lnSpc>
                <a:spcPct val="150000"/>
              </a:lnSpc>
            </a:pPr>
            <a:r>
              <a:rPr lang="en-IN" dirty="0"/>
              <a:t>[5] Kaggle</a:t>
            </a:r>
            <a:r>
              <a:rPr lang="en-IN" spc="-35" dirty="0"/>
              <a:t> </a:t>
            </a:r>
            <a:r>
              <a:rPr lang="en-IN" dirty="0"/>
              <a:t>Dataset</a:t>
            </a:r>
            <a:r>
              <a:rPr lang="en-IN" spc="-20" dirty="0"/>
              <a:t> </a:t>
            </a:r>
            <a:r>
              <a:rPr lang="en-IN" dirty="0"/>
              <a:t>-</a:t>
            </a:r>
            <a:r>
              <a:rPr lang="en-IN" spc="-15" dirty="0"/>
              <a:t> </a:t>
            </a:r>
            <a:r>
              <a:rPr lang="en-IN" b="1" spc="-20" dirty="0"/>
              <a:t>CropRecommendation.csv,</a:t>
            </a:r>
            <a:r>
              <a:rPr lang="en-IN" b="1" spc="-35" dirty="0"/>
              <a:t> </a:t>
            </a:r>
            <a:r>
              <a:rPr lang="en-IN" b="1" spc="-25" dirty="0"/>
              <a:t>fertilizer.csv</a:t>
            </a:r>
            <a:r>
              <a:rPr lang="en-IN" spc="-25" dirty="0"/>
              <a:t>,</a:t>
            </a:r>
            <a:r>
              <a:rPr lang="en-IN" spc="-40" dirty="0"/>
              <a:t> </a:t>
            </a:r>
            <a:r>
              <a:rPr lang="en-IN" dirty="0"/>
              <a:t>Crop</a:t>
            </a:r>
            <a:r>
              <a:rPr lang="en-IN" spc="-5" dirty="0"/>
              <a:t> </a:t>
            </a:r>
            <a:r>
              <a:rPr lang="en-IN" dirty="0"/>
              <a:t>and</a:t>
            </a:r>
            <a:r>
              <a:rPr lang="en-IN" spc="15" dirty="0"/>
              <a:t> </a:t>
            </a:r>
            <a:r>
              <a:rPr lang="en-IN" dirty="0"/>
              <a:t>Fertilizer</a:t>
            </a:r>
            <a:r>
              <a:rPr lang="en-IN" spc="-40" dirty="0"/>
              <a:t> </a:t>
            </a:r>
            <a:r>
              <a:rPr lang="en-IN" dirty="0"/>
              <a:t>Data</a:t>
            </a:r>
            <a:r>
              <a:rPr lang="en-IN" spc="15" dirty="0"/>
              <a:t> </a:t>
            </a:r>
            <a:r>
              <a:rPr lang="en-IN" spc="-10" dirty="0"/>
              <a:t>(2023).</a:t>
            </a:r>
          </a:p>
          <a:p>
            <a:pPr algn="just">
              <a:lnSpc>
                <a:spcPct val="150000"/>
              </a:lnSpc>
            </a:pPr>
            <a:r>
              <a:rPr lang="en-IN" spc="-10" dirty="0"/>
              <a:t>[6] Open Source- GitHub source code.</a:t>
            </a:r>
          </a:p>
          <a:p>
            <a:endParaRPr lang="en-IN" dirty="0"/>
          </a:p>
          <a:p>
            <a:endParaRPr lang="en-IN" dirty="0"/>
          </a:p>
        </p:txBody>
      </p:sp>
    </p:spTree>
    <p:extLst>
      <p:ext uri="{BB962C8B-B14F-4D97-AF65-F5344CB8AC3E}">
        <p14:creationId xmlns:p14="http://schemas.microsoft.com/office/powerpoint/2010/main" val="6087646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15994" y="3038348"/>
            <a:ext cx="4171315" cy="49707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893</TotalTime>
  <Words>1152</Words>
  <Application>Microsoft Office PowerPoint</Application>
  <PresentationFormat>Widescreen</PresentationFormat>
  <Paragraphs>114</Paragraphs>
  <Slides>15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Calibri</vt:lpstr>
      <vt:lpstr>Times New Roman</vt:lpstr>
      <vt:lpstr>Wingdings</vt:lpstr>
      <vt:lpstr>Office Theme</vt:lpstr>
      <vt:lpstr>PowerPoint Presentation</vt:lpstr>
      <vt:lpstr>Contents</vt:lpstr>
      <vt:lpstr>Introduction</vt:lpstr>
      <vt:lpstr>Problem Statement</vt:lpstr>
      <vt:lpstr>Motivation</vt:lpstr>
      <vt:lpstr>Aim &amp; Objectives</vt:lpstr>
      <vt:lpstr>System Design</vt:lpstr>
      <vt:lpstr>Methodologies</vt:lpstr>
      <vt:lpstr>Results and Snapshots</vt:lpstr>
      <vt:lpstr>Results and Snapshots</vt:lpstr>
      <vt:lpstr>Application of the Project</vt:lpstr>
      <vt:lpstr>Conclusion</vt:lpstr>
      <vt:lpstr>Future Scope of the work</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ISE  Project Phase II Review-I Presentation</dc:title>
  <dc:creator>Nayana reddy</dc:creator>
  <cp:lastModifiedBy>Jaishree Somashekar</cp:lastModifiedBy>
  <cp:revision>18</cp:revision>
  <dcterms:created xsi:type="dcterms:W3CDTF">2025-11-11T13:41:53Z</dcterms:created>
  <dcterms:modified xsi:type="dcterms:W3CDTF">2025-11-21T05:31:12Z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2025-11-11T00:00:00Z</vt:filetime>
  </property>
  <property fmtid="{D5CDD505-2E9C-101B-9397-08002B2CF9AE}" pid="3" name="Creator">
    <vt:lpwstr>Microsoft® PowerPoint® 2024</vt:lpwstr>
  </property>
  <property fmtid="{D5CDD505-2E9C-101B-9397-08002B2CF9AE}" pid="4" name="LastSaved">
    <vt:filetime>2025-11-11T00:00:00Z</vt:filetime>
  </property>
  <property fmtid="{D5CDD505-2E9C-101B-9397-08002B2CF9AE}" pid="5" name="Producer">
    <vt:lpwstr>Microsoft® PowerPoint® 2024</vt:lpwstr>
  </property>
</Properties>
</file>